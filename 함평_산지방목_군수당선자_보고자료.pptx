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657600" cy="4114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3474720"/>
            <a:ext cx="2743200" cy="3657600"/>
          </a:xfrm>
          <a:prstGeom prst="rect">
            <a:avLst/>
          </a:prstGeom>
          <a:solidFill>
            <a:srgbClr val="16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12188952" cy="640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65760"/>
            <a:ext cx="3474720" cy="5486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맑은 고딕"/>
              </a:rPr>
              <a:t>군수 당선자 보고자료  (비공개)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D6A7"/>
                </a:solidFill>
                <a:latin typeface="맑은 고딕"/>
              </a:rPr>
              <a:t>Hampyeong-gun, Jeollanam-do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7772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맑은 고딕"/>
              </a:rPr>
              <a:t>함평 산지방목
그린축산·에너지공유
특구 조성사업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97680"/>
            <a:ext cx="137160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D6A7"/>
                </a:solidFill>
                <a:latin typeface="맑은 고딕"/>
              </a:rPr>
              <a:t>10년 국가급 농축산 전환 프로젝트  |  총예산 1조 8,000억원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맑은 고딕"/>
              </a:rPr>
              <a:t>2027년 300억 선도사업 → 2036년 통합특구 완성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2026. 06.  |  산지방목특구추진단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왜 지금인가 — 군수 임기 4년이 골든타임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긴급성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지금 시작해야 하는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탄소중립 2030 목표 → 2027년 이전 착수 없으면 국비 배분 대열 탈락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RE100·ESG 기업 PPA 시장은 2025~2028년이 선점 윈도우 → 이후 경쟁 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농촌공간재구조화 사업 (농식품부) 1차 공모 2027년 마감 예정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전국 지자체 그린축산 선점 경쟁 시작 — 함평이 먼저 깃발 꽂지 않으면 타 군이 선점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29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특별법 입법 최소 2년 소요 → 군수 임기 1년차에 입법 로드맵 수립 필수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06240"/>
            <a:ext cx="1143000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69080"/>
            <a:ext cx="201168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43891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  <a:latin typeface="맑은 고딕"/>
              </a:rPr>
              <a:t>2026
취임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4069080"/>
            <a:ext cx="201168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43891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  <a:latin typeface="맑은 고딕"/>
              </a:rPr>
              <a:t>2027
선도사업
착공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069080"/>
            <a:ext cx="201168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43891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  <a:latin typeface="맑은 고딕"/>
              </a:rPr>
              <a:t>2028
특별법
시행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4069080"/>
            <a:ext cx="201168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3891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  <a:latin typeface="맑은 고딕"/>
              </a:rPr>
              <a:t>2030
임기 완료
시범단지 완성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0" y="4069080"/>
            <a:ext cx="201168" cy="2743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438912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5E20"/>
                </a:solidFill>
                <a:latin typeface="맑은 고딕"/>
              </a:rPr>
              <a:t>2036
통합특구
완성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40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맑은 고딕"/>
              </a:rPr>
              <a:t>군수 임기 4년 (2026~2030) 내에 선도사업 착공 + 특별법 시행 + 시범단지 1단계 완성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함평군 현황 진단 — 위기와 기회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현황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1645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위기 지표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2743200" cy="11887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78308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인구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62828"/>
                </a:solidFill>
                <a:latin typeface="맑은 고딕"/>
              </a:rPr>
              <a:t>37,012명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전남 최저 수준 / 고령화율 35%↑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783080"/>
            <a:ext cx="2743200" cy="11887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78308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축산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62828"/>
                </a:solidFill>
                <a:latin typeface="맑은 고딕"/>
              </a:rPr>
              <a:t>1,437개 축사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93% 가축사육제한구역 해당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783080"/>
            <a:ext cx="2743200" cy="11887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78308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소득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62828"/>
                </a:solidFill>
                <a:latin typeface="맑은 고딕"/>
              </a:rPr>
              <a:t>농업소득 정체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비축산 대안 부재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1783080"/>
            <a:ext cx="2743200" cy="11887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78308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인프라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62828"/>
                </a:solidFill>
                <a:latin typeface="맑은 고딕"/>
              </a:rPr>
              <a:t>도로·수계 취약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접근성 한계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54680"/>
            <a:ext cx="1645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1546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기회 자원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11880"/>
            <a:ext cx="27432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611880"/>
            <a:ext cx="27432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산지·초지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023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맑은 고딕"/>
              </a:rPr>
              <a:t>광활한 미활용
산지·초지 보유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3611880"/>
            <a:ext cx="27432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1840" y="3611880"/>
            <a:ext cx="27432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태양광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023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맑은 고딕"/>
              </a:rPr>
              <a:t>1,246천㎡ 축사
지붕 잠재 125MW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611880"/>
            <a:ext cx="27432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3611880"/>
            <a:ext cx="27432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조사료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023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맑은 고딕"/>
              </a:rPr>
              <a:t>평지 조사료 농지
자급 잠재 높음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3611880"/>
            <a:ext cx="274320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3611880"/>
            <a:ext cx="2743200" cy="45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브랜드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023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맑은 고딕"/>
              </a:rPr>
              <a:t>나비축제 인지도
친환경 이미지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166360"/>
            <a:ext cx="11430000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9A825"/>
                </a:solidFill>
                <a:latin typeface="맑은 고딕"/>
              </a:rPr>
              <a:t>결론: 위기를 기회로 전환할 전략이 '산지방목 그린축산·에너지공유 특구'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프로젝트 전체 구조 한눈에 보기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핵심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560320"/>
            <a:ext cx="2560320" cy="1463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65176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9A825"/>
                </a:solidFill>
                <a:latin typeface="맑은 고딕"/>
              </a:rPr>
              <a:t>함평
특구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71600"/>
            <a:ext cx="201168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508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산지·초지
순환방목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201168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3375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축사
태양광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029200"/>
            <a:ext cx="201168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51663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주민배당
군민펀드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1371600"/>
            <a:ext cx="201168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508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AI Agent
통합관리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3200400"/>
            <a:ext cx="201168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33375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국립축산
R&amp;D 연계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5029200"/>
            <a:ext cx="201168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51663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특별법
제정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926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  <a:latin typeface="맑은 고딕"/>
              </a:rPr>
              <a:t>← 연동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926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  <a:latin typeface="맑은 고딕"/>
              </a:rPr>
              <a:t>← 연동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806440"/>
            <a:ext cx="2743200" cy="6400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24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121"/>
                </a:solidFill>
                <a:latin typeface="맑은 고딕"/>
              </a:rPr>
              <a:t>1조 8,000억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996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맑은 고딕"/>
              </a:rPr>
              <a:t>총 투자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5806440"/>
            <a:ext cx="2743200" cy="6400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5824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121"/>
                </a:solidFill>
                <a:latin typeface="맑은 고딕"/>
              </a:rPr>
              <a:t>125MW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61996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맑은 고딕"/>
              </a:rPr>
              <a:t>태양광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806440"/>
            <a:ext cx="2743200" cy="6400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824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121"/>
                </a:solidFill>
                <a:latin typeface="맑은 고딕"/>
              </a:rPr>
              <a:t>연 12만톤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61996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맑은 고딕"/>
              </a:rPr>
              <a:t>탄소감축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5806440"/>
            <a:ext cx="2743200" cy="64008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5824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121"/>
                </a:solidFill>
                <a:latin typeface="맑은 고딕"/>
              </a:rPr>
              <a:t>군민 41만원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61996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  <a:latin typeface="맑은 고딕"/>
              </a:rPr>
              <a:t>연 배당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규제 장벽과 특별법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선결과제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핵심 규제 장벽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맑은 고딕"/>
              </a:rPr>
              <a:t>현행법 내에서는 산지방목 특구 조성이 실질적으로 불가능합니다.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94560"/>
            <a:ext cx="2560320" cy="6583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042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가축사육제한구역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194560"/>
            <a:ext cx="8869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286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사업장 93% 해당 → 신규 축사·방목단지 사실상 불허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71800"/>
            <a:ext cx="2560320" cy="6583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815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농지법·산지관리법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971800"/>
            <a:ext cx="8869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30632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농림지 전용 이중 규제 → 방목구획 설정 법적 근거 없음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2560320" cy="65836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85876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소규모 농가 RE법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3749039"/>
            <a:ext cx="8869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3840479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REC·PPA 참여 법적 근거 미비 → 태양광 수익 배분 불가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1772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617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특별법 추진 전략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74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2026년 하반기: 입법 로드맵 수립 + 국회의원 협력 채널 구축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2027년 상반기: 특별법 발의 → 국회 농림위 통과 목표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2027년 하반기: 시행령·조례 패키지 완비 → 선도사업 허가 착수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GIS 후보지 분석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진행중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182880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분석 완료 현황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4114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105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축사 주소 지오코딩 완료 (1,429/1,437개소, 99.4%)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86000"/>
            <a:ext cx="4114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13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행정경계·수계·도로·DEM 분석 완료 (OSM·Copernicus)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88920"/>
            <a:ext cx="4114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8163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788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연속지적도 24만 필지 지목 분석 완료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91840"/>
            <a:ext cx="4114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3192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가축사육제한구역·용도지역 중첩 분석 완료 (VWorld)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94760"/>
            <a:ext cx="41148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822191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9개 읍면 예비 후보권역 생성 + 1차 점수화 완료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43400"/>
            <a:ext cx="34747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343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다음 단계 (보전산지·초지 파일 확보 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00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후보지 10곳 도출 → 3곳 압축 → 최종 1곳 현장조사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보전산지·초지 GIS 파일: 산림청·농식품부 요청 진행 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440680"/>
            <a:ext cx="11430000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최우선 검토: 손불면(218개, 조사료 최적) · 신광면(196개, 산지 우수) · 대동면(177개)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손불면 선도 시나리오 — 1순위 후보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1순위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손불면 선택 근거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함평군 축사 수 최다 — 218개소 (전체 15.2%) → 집약적 첫 성과 창출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평지·조사료 농지 비율 높음 → 방목 + 조사료 자급 동시 실증 최적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기존 축사 밀집 → 태양광 설치 잠재 21.8MW (연간 수익 약 14억원)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도로 접근성 양호 → 방역·관리 차량 동선 확보 용이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365760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337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손불면 선도사업 성과 목표 (2027~2030)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2743200" cy="41148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8130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조사료 자급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976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  <a:latin typeface="맑은 고딕"/>
              </a:rPr>
              <a:t>호당 30% 달성
→ 사료비 절감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79476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3794760"/>
            <a:ext cx="2743200" cy="41148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8130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태양광 설치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2976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  <a:latin typeface="맑은 고딕"/>
              </a:rPr>
              <a:t>218개소 순차 설치
→ 연 14억원 수익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9476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94760"/>
            <a:ext cx="2743200" cy="41148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8130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방목 브랜드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2976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  <a:latin typeface="맑은 고딕"/>
              </a:rPr>
              <a:t>손불 그린한우
→ kg당 15% 프리미엄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379476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0" y="3794760"/>
            <a:ext cx="2743200" cy="41148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38130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주민배당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42976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  <a:latin typeface="맑은 고딕"/>
              </a:rPr>
              <a:t>손불면 가구
연 50만원↑ 배당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주민·농가 동의 확보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협의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이해관계자 지도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83080"/>
            <a:ext cx="224028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783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이해관계자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783080"/>
            <a:ext cx="269748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핵심 관심사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783080"/>
            <a:ext cx="269748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설득 핵심 메시지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1783080"/>
            <a:ext cx="347472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783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대응 전략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40280"/>
            <a:ext cx="22402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286000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축산 농가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2240280"/>
            <a:ext cx="2788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2286000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수익·땅·권리 유지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240280"/>
            <a:ext cx="30632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2286000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지분참여 = 소유권 유지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2240280"/>
            <a:ext cx="3429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2286000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선도 농가 인센티브 우선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90088"/>
            <a:ext cx="224028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035808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인근 주민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2990088"/>
            <a:ext cx="278892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035808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악취·경관·안전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2990088"/>
            <a:ext cx="306324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3035808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배당 + 악취 저감 동시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2990088"/>
            <a:ext cx="34290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3035808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주민설명회 배당 모델 공개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739896"/>
            <a:ext cx="22402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785615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군의회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3739896"/>
            <a:ext cx="2788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3785615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표심·예산 효율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3739896"/>
            <a:ext cx="306324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0" y="3785615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고용 2,200명·세수 확대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41080" y="3739896"/>
            <a:ext cx="3429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3785615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의회 브리핑 데이터 패키지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489704"/>
            <a:ext cx="224028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535424"/>
            <a:ext cx="2194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전남도청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06040" y="4489704"/>
            <a:ext cx="278892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1760" y="4535424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도 정책 부합성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0" y="4489704"/>
            <a:ext cx="306324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32120" y="4535424"/>
            <a:ext cx="3017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  <a:latin typeface="맑은 고딕"/>
              </a:rPr>
              <a:t>RE100·그린뉴딜 선도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41080" y="4489704"/>
            <a:ext cx="3429000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0" y="4535424"/>
            <a:ext cx="3383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도지사 공동 발표 제안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394960"/>
            <a:ext cx="1645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5394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추진 순서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비공개 간담회(농가) → 주민설명회 → 군의회 보고 → 전남도 협의 → 입법 추진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예산 확보 로드맵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예산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320040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2027년 300억 선도사업 구성안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2743200" cy="13716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28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  <a:latin typeface="맑은 고딕"/>
              </a:rPr>
              <a:t>국비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1762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  <a:latin typeface="맑은 고딕"/>
              </a:rPr>
              <a:t>150억원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맑은 고딕"/>
              </a:rPr>
              <a:t>농식품부 축산환경개선+신재생에너지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783080"/>
            <a:ext cx="2743200" cy="13716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828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  <a:latin typeface="맑은 고딕"/>
              </a:rPr>
              <a:t>도비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1762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  <a:latin typeface="맑은 고딕"/>
              </a:rPr>
              <a:t>75억원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맑은 고딕"/>
              </a:rPr>
              <a:t>전남도 그린에너지·농촌재구조화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743200" cy="13716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828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  <a:latin typeface="맑은 고딕"/>
              </a:rPr>
              <a:t>군비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762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  <a:latin typeface="맑은 고딕"/>
              </a:rPr>
              <a:t>45억원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맑은 고딕"/>
              </a:rPr>
              <a:t>함평군 일반회계+특별회계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783080"/>
            <a:ext cx="2743200" cy="13716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828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  <a:latin typeface="맑은 고딕"/>
              </a:rPr>
              <a:t>민간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1762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  <a:latin typeface="맑은 고딕"/>
              </a:rPr>
              <a:t>30억원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맑은 고딕"/>
              </a:rPr>
              <a:t>RE100 기업·농협 공동투자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337560"/>
            <a:ext cx="320040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337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10년 총예산 1조 8,000억원 분해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897880"/>
            <a:ext cx="27432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2027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맑은 고딕"/>
              </a:rPr>
              <a:t>300억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5577840"/>
            <a:ext cx="274320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2028~30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맑은 고딕"/>
              </a:rPr>
              <a:t>2,500억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257800"/>
            <a:ext cx="2743200" cy="10058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2031~33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맑은 고딕"/>
              </a:rPr>
              <a:t>6,200억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4937761"/>
            <a:ext cx="2743200" cy="1325879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2034~36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맑은 고딕"/>
              </a:rPr>
              <a:t>9,000억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군수 임기 내 핵심 성과 목표 (2026~2030)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성과목표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  <a:latin typeface="맑은 고딕"/>
              </a:rPr>
              <a:t>임기 4년 안에 이것만 이루면 됩니다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3749039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3749039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5740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①  특별법 제정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517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맑은 고딕"/>
              </a:rPr>
              <a:t>2028년까지 국회 통과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011680"/>
            <a:ext cx="3749039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011680"/>
            <a:ext cx="3749039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05740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②  선도사업 착공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517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맑은 고딕"/>
              </a:rPr>
              <a:t>2027년 3월 300억 착공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011680"/>
            <a:ext cx="3749039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011680"/>
            <a:ext cx="3749039" cy="50292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05740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③  시범단지 1단계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517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맑은 고딕"/>
              </a:rPr>
              <a:t>손불면 100ha 조성 착수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77639"/>
            <a:ext cx="3749039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977639"/>
            <a:ext cx="3749039" cy="50292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23359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④  태양광 1차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1771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맑은 고딕"/>
              </a:rPr>
              <a:t>30MW 설치 완료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977639"/>
            <a:ext cx="3749039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977639"/>
            <a:ext cx="3749039" cy="50292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4023359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⑤  주민배당 개시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61771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맑은 고딕"/>
              </a:rPr>
              <a:t>2029년 배당 첫 지급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977639"/>
            <a:ext cx="3749039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977639"/>
            <a:ext cx="3749039" cy="50292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023359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⑥  전국 모델 수출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61771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맑은 고딕"/>
              </a:rPr>
              <a:t>타 지자체 벤치마킹 1건↑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군수 임기 레거시 — 함평을 전국 모델로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레거시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B5E20"/>
                </a:solidFill>
                <a:latin typeface="맑은 고딕"/>
              </a:rPr>
              <a:t>이 프로젝트가 성공하면 함평군수는 대한민국 그린축산 전환의 선구자가 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11680"/>
            <a:ext cx="3749039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3749039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29968"/>
            <a:ext cx="3566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</a:rPr>
              <a:t>경제 레거시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맑은 고딕"/>
              </a:rPr>
              <a:t>• 10년 누적 생산유발 2조 2천억원
• 지역 고용 2,200명 창출
• 군민 1인 연 배당 41만원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011680"/>
            <a:ext cx="3749039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011680"/>
            <a:ext cx="3749039" cy="54864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029968"/>
            <a:ext cx="3566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</a:rPr>
              <a:t>환경 레거시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517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맑은 고딕"/>
              </a:rPr>
              <a:t>• 탄소 연 12만톤 감축
• 산지 생태 복원 1,500ha
• 악취 민원 80% 저감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011680"/>
            <a:ext cx="3749039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011680"/>
            <a:ext cx="3749039" cy="54864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029968"/>
            <a:ext cx="3566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</a:rPr>
              <a:t>정책 레거시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65176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2121"/>
                </a:solidFill>
                <a:latin typeface="맑은 고딕"/>
              </a:rPr>
              <a:t>• 특별법 제정 선도
• 전국 확산 모델 개발
• 농림부 우수사례 선정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806440"/>
            <a:ext cx="1143000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A825"/>
                </a:solidFill>
                <a:latin typeface="맑은 고딕"/>
              </a:rPr>
              <a:t>"함평이 먼저, 전국이 따른다" — 군수님의 10년 비전을 지금 시작합니다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축산농가 보상·지분 참여 구조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농가설득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28600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농가 참여 유인 설계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55778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783080"/>
            <a:ext cx="91440" cy="10058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562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지붕 임대수익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연 500~800만원/농가 (태양광 임대료)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783080"/>
            <a:ext cx="55778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783080"/>
            <a:ext cx="91440" cy="10058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562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지분 참여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585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발전사업 10~20% 지분 → 수익 지속 배당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26080"/>
            <a:ext cx="55778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91440" cy="10058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992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방목지 전환 보상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4015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유휴 농지 방목지 임대 → 토지 수익화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926080"/>
            <a:ext cx="55778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926080"/>
            <a:ext cx="91440" cy="10058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9992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브랜드 프리미엄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015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그린축산 인증 → 출하가 15% 프리미엄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69080"/>
            <a:ext cx="55778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069080"/>
            <a:ext cx="91440" cy="10058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1422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사료비 절감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445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조사료 자급 30% → 연 300~500만원 절감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069080"/>
            <a:ext cx="55778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069080"/>
            <a:ext cx="91440" cy="10058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1422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AI 관리 지원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5445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방역·성장 AI 모니터링 무상 제공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349240"/>
            <a:ext cx="1143000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A825"/>
                </a:solidFill>
                <a:latin typeface="맑은 고딕"/>
              </a:rPr>
              <a:t>핵심 원칙: 농가는 소유권을 유지하면서 수익만 추가로 얻는 구조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전라남도 연계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도비확보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74320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전남도 정책 연계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전남 그린에너지 2030 → 함평 축사태양광 125MW = 도 목표 기여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전남 농촌공간재구조화 사업 → 함평 산지방목 선도 모델 = 도 대표 사례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전남 RE100 산단 유치 → 함평 PPA 공급원 = 상호 보완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전남 청년 귀농·귀촌 사업 → 함평 특구 청년 유입 = 인구 목표 기여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20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도비 확보 전략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77639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도지사 면담 → 함평 특구 도 대표 사업 지정 요청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19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전남도 축산환경개선 지원사업 공모 최우선 신청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0599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전남도 신재생에너지 특화단지 공동 지정 제안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79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전남 농업기술원·국립축산과학원 공동 R&amp;D 협약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532120"/>
            <a:ext cx="114300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532120"/>
            <a:ext cx="73152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5778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목표: 2026년 하반기 도지사 보고 → 전남도 대표 농축산 전환 사업으로 격상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단계별 추진 일정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로드맵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28346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2834640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4173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준비기
2026.06~12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402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GIS 후보지 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546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특별법 로드맵 수립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690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농가 간담회 개최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834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전남도 협의 착수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371600"/>
            <a:ext cx="28346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1371600"/>
            <a:ext cx="2834640" cy="7315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4173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선도기
2027.01~12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2402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특별법 발의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1546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300억 착공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0690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시범단지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9834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태양광 1차 허가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371600"/>
            <a:ext cx="28346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371600"/>
            <a:ext cx="2834640" cy="73152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4173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확장기
2028~2030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402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특별법 시행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1546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방목단지 100ha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690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30MW 발전 개시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9834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주민배당 첫 지급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1371600"/>
            <a:ext cx="28346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1371600"/>
            <a:ext cx="28346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14173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121"/>
                </a:solidFill>
                <a:latin typeface="맑은 고딕"/>
              </a:rPr>
              <a:t>완성기
2031~2036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2402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통합특구 300ha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1546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125MW 달성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0690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전국 모델 수출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9834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1조 8천억 완성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217920"/>
            <a:ext cx="5989320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236208"/>
            <a:ext cx="5989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← 군수 임기 (2026~2030)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AI Agent 통합관리 플랫폼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스마트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182880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플랫폼 개요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방목·태양광·방역·배당을 하나의 AI 대시보드로 실시간 통합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2743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274320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13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방목
모니터링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  <a:latin typeface="맑은 고딕"/>
              </a:rPr>
              <a:t>GPS 위치
채식량 측정
로테이션 알림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286000"/>
            <a:ext cx="2743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2286000"/>
            <a:ext cx="2743200" cy="50292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313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태양광
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88036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  <a:latin typeface="맑은 고딕"/>
              </a:rPr>
              <a:t>발전량 실시간
이상탐지 경보
수익 자동정산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286000"/>
            <a:ext cx="2743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286000"/>
            <a:ext cx="274320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313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방역
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8036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  <a:latin typeface="맑은 고딕"/>
              </a:rPr>
              <a:t>질병 조기경보
차단방역 최적화
입출입 자동화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2286000"/>
            <a:ext cx="2743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2286000"/>
            <a:ext cx="2743200" cy="50292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313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배당
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88036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  <a:latin typeface="맑은 고딕"/>
              </a:rPr>
              <a:t>수익 자동계산
배당명세 발송
군민펀드 현황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577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맑은 고딕"/>
              </a:rPr>
              <a:t>※ 국립축산과학원 + 민간 AI 기업 협력 / 군청 통합관제센터 설치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리스크 및 대응방안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리스크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417320"/>
            <a:ext cx="557784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121"/>
                </a:solidFill>
                <a:latin typeface="맑은 고딕"/>
              </a:rPr>
              <a:t>특별법 지연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146304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50876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높음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116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</a:rPr>
              <a:t>대응: 규제샌드박스 선적용 + 조례 우선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5577840" cy="640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554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121"/>
                </a:solidFill>
                <a:latin typeface="맑은 고딕"/>
              </a:rPr>
              <a:t>주민 반대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1508760"/>
            <a:ext cx="1463040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150876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중간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0116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</a:rPr>
              <a:t>대응: 배당 조기 가시화 → 찬성 전환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2608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926080"/>
            <a:ext cx="5577840" cy="640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063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121"/>
                </a:solidFill>
                <a:latin typeface="맑은 고딕"/>
              </a:rPr>
              <a:t>농가 저조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017520"/>
            <a:ext cx="1463040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30175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중간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5204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</a:rPr>
              <a:t>대응: 선도 농가 인센티브 패키지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92608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2926080"/>
            <a:ext cx="5577840" cy="640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063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121"/>
                </a:solidFill>
                <a:latin typeface="맑은 고딕"/>
              </a:rPr>
              <a:t>부지 미확보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3017520"/>
            <a:ext cx="14630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30175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낮음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5204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</a:rPr>
              <a:t>대응: 9읍면 동시 평가 대안 확보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43484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434840"/>
            <a:ext cx="5577840" cy="640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572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121"/>
                </a:solidFill>
                <a:latin typeface="맑은 고딕"/>
              </a:rPr>
              <a:t>예산 미확보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4526280"/>
            <a:ext cx="1463040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452628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중간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0292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</a:rPr>
              <a:t>대응: 도비 + 민간투자 의존도 분산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434840"/>
            <a:ext cx="55778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434840"/>
            <a:ext cx="5577840" cy="640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4572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121"/>
                </a:solidFill>
                <a:latin typeface="맑은 고딕"/>
              </a:rPr>
              <a:t>질병 발생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49840" y="4526280"/>
            <a:ext cx="1463040" cy="3840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49840" y="452628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중간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0292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  <a:latin typeface="맑은 고딕"/>
              </a:rPr>
              <a:t>대응: AI 조기경보 + 분산방목 구조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국립축산과학원 연계 R&amp;D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R&amp;D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1645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연계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함평 시범단지를 국립축산과학원 현장 시험지로 지정 → 정부 R&amp;D 예산 자동 유입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55778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73152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786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한국형 산지방목 기술기준 수립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77440"/>
            <a:ext cx="55778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377440"/>
            <a:ext cx="73152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786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방목 한우·면양 성장·품질 실증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83280"/>
            <a:ext cx="55778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73152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844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조사료 자급 모델 최적화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383280"/>
            <a:ext cx="55778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383280"/>
            <a:ext cx="73152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844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축사태양광 복합 효율 실증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89120"/>
            <a:ext cx="55778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389120"/>
            <a:ext cx="73152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5902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AI 방역·건강관리 현장 적용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389120"/>
            <a:ext cx="55778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389120"/>
            <a:ext cx="73152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5902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탄소흡수량 측정·크레딧 인증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440680"/>
            <a:ext cx="11430000" cy="6400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A825"/>
                </a:solidFill>
                <a:latin typeface="맑은 고딕"/>
              </a:rPr>
              <a:t>성과: 전국 확산 기술 표준 개발 → 함평군이 대한민국 그린축산 기술 메카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즉시 필요한 군수 결정 사항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의사결정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29260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취임 100일 내 결정·지시 사항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557784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783080"/>
            <a:ext cx="502920" cy="12984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67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121"/>
                </a:solidFill>
                <a:latin typeface="맑은 고딕"/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85623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특구추진 전담팀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286000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맑은 고딕"/>
              </a:rPr>
              <a:t>산지방목특구추진단 TF 구성 지시
(기획실 + 산업과 + 환경과 합동)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783080"/>
            <a:ext cx="557784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783080"/>
            <a:ext cx="502920" cy="12984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167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121"/>
                </a:solidFill>
                <a:latin typeface="맑은 고딕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85623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전남도 협력 채널 구축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286000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맑은 고딕"/>
              </a:rPr>
              <a:t>도지사 면담 일정 수립
함평 특구 도 대표사업 지정 요청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00400"/>
            <a:ext cx="557784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200400"/>
            <a:ext cx="502920" cy="12984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5844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121"/>
                </a:solidFill>
                <a:latin typeface="맑은 고딕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7355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GIS 자료 행정 요청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703320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맑은 고딕"/>
              </a:rPr>
              <a:t>보전산지·초지 파일 산림청 공문 발송
악취민원·방역권역 농식품부 요청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00400"/>
            <a:ext cx="557784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200400"/>
            <a:ext cx="502920" cy="12984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5844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121"/>
                </a:solidFill>
                <a:latin typeface="맑은 고딕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27355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농가 비공개 간담회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703320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맑은 고딕"/>
              </a:rPr>
              <a:t>선도 농가 20~30인 비공개 간담회
지분참여·임대수익 모델 설명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617720"/>
            <a:ext cx="557784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617720"/>
            <a:ext cx="502920" cy="12984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001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121"/>
                </a:solidFill>
                <a:latin typeface="맑은 고딕"/>
              </a:rPr>
              <a:t>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69087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법무 자문단 구성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120640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맑은 고딕"/>
              </a:rPr>
              <a:t>특별법 입법 자문 법무법인 선정
조례 개정안 초안 작업 착수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617720"/>
            <a:ext cx="557784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617720"/>
            <a:ext cx="502920" cy="129844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5001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12121"/>
                </a:solidFill>
                <a:latin typeface="맑은 고딕"/>
              </a:rPr>
              <a:t>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69087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2027년 예산 편성 지시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5120640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맑은 고딕"/>
              </a:rPr>
              <a:t>선도사업 300억 군비 45억 편성
농식품부 국비 신청 준비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맑은 고딕"/>
              </a:rPr>
              <a:t>즉시 착수 — 2026년 하반기 액션플랜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82880"/>
            <a:ext cx="1920240" cy="7315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2286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맑은 고딕"/>
              </a:rPr>
              <a:t>액션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3749039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42646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2026년  6월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특구추진 TF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GIS 자료 행정요청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법무 자문단 선정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371600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59" y="1371600"/>
            <a:ext cx="3749039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399" y="142646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2026년  7월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농가 비공개 간담회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2423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전남도 면담 추진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2926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후보지 3곳 선정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371600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1371600"/>
            <a:ext cx="3749039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142646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2026년  8월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9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주민설명회 준비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2423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특별법 초안 작성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2926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예산 신청서 작성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703320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703320"/>
            <a:ext cx="3749039" cy="45720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75818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2026년  9월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51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주민설명회 개최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54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군의회 보고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57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전남도 도비 신청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3703320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59" y="3703320"/>
            <a:ext cx="3749039" cy="45720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399" y="375818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2026년  10~11월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19" y="4251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국비 신청 제출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19" y="4754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국립축산원 협약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19" y="5257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시범단지 기본계획 확정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3703320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83879" y="3703320"/>
            <a:ext cx="3749039" cy="45720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19" y="375818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2026년  12월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39" y="4251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2027년 예산 의결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39" y="4754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착공 준비 완료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39" y="5257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선도사업 허가 착수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함평군수 당선자 보고자료  |  함평 산지방목 그린축산·에너지공유 특구 조성사업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4114800" cy="6858000"/>
          </a:xfrm>
          <a:prstGeom prst="rect">
            <a:avLst/>
          </a:prstGeom>
          <a:solidFill>
            <a:srgbClr val="16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65760"/>
            <a:ext cx="3200400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맑은 고딕"/>
              </a:rPr>
              <a:t>군수 당선자 보고자료  (비공개)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맑은 고딕"/>
              </a:rPr>
              <a:t>함평이 먼저,
전국이 따릅니다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40"/>
            <a:ext cx="1828800" cy="640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5D6A7"/>
                </a:solidFill>
                <a:latin typeface="맑은 고딕"/>
              </a:rPr>
              <a:t>군수님의 결단이 함평 10년을 바꿉니다.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94760"/>
            <a:ext cx="7132320" cy="2103120"/>
          </a:xfrm>
          <a:prstGeom prst="rect">
            <a:avLst/>
          </a:prstGeom>
          <a:solidFill>
            <a:srgbClr val="16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맑은 고딕"/>
              </a:rPr>
              <a:t>협조 요청 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1596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① 특구추진 전담 TF 구성 지시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0001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② 전남도지사 면담 및 도 대표사업 지정 요청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8406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③ GIS 원자료 확보 공문 발송 (산림청·농식품부)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6811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④ 2027년 선도사업 예산 300억 편성 지시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  <a:latin typeface="맑은 고딕"/>
              </a:rPr>
              <a:t>산지방목특구추진단  드림
2026. 06.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  |  군수 당선자 보고자료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