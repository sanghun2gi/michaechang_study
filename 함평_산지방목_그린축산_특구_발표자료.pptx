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0" y="0"/>
            <a:ext cx="3657600" cy="36576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515600" y="2743200"/>
            <a:ext cx="2743200" cy="4572000"/>
          </a:xfrm>
          <a:prstGeom prst="rect">
            <a:avLst/>
          </a:prstGeom>
          <a:solidFill>
            <a:srgbClr val="1B69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5029200"/>
            <a:ext cx="4572000" cy="2286000"/>
          </a:xfrm>
          <a:prstGeom prst="rect">
            <a:avLst/>
          </a:prstGeom>
          <a:solidFill>
            <a:srgbClr val="16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475488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457200"/>
            <a:ext cx="2743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143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5D6A7"/>
                </a:solidFill>
                <a:latin typeface="맑은 고딕"/>
              </a:rPr>
              <a:t>Hampyeong-gun, Jeollanam-do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77724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맑은 고딕"/>
              </a:rPr>
              <a:t>함평 산지방목
그린축산·에너지공유 특구
조성사업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0080" y="4206240"/>
            <a:ext cx="109728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A5D6A7"/>
                </a:solidFill>
                <a:latin typeface="맑은 고딕"/>
              </a:rPr>
              <a:t>10년 국가급 농축산 전환 프로젝트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9A825"/>
                </a:solidFill>
                <a:latin typeface="맑은 고딕"/>
              </a:rPr>
              <a:t>2026. 06.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3949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맑은 고딕"/>
              </a:rPr>
              <a:t>함평군청  ·  산지방목특구추진단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 / 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목  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713232"/>
            <a:ext cx="8686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A5D6A7"/>
                </a:solidFill>
                <a:latin typeface="맑은 고딕"/>
              </a:rPr>
              <a:t>Contents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1481328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1463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1417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프로젝트 개요 및 배경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1956816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9385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18928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함평군 현황 — 인구·축산 통계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2432304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41401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" y="236829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핵심 문제 진단 — 규제·현안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907792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28895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51560" y="284378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10대 사업축 종합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383280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3649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51560" y="33192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산지·초지 순환방목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858768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8404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3794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기존 축사 지붕형 태양광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4334256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3159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07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51560" y="42702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주민조합·군민펀드 배당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809744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47914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51560" y="474573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AI Agent 통합관리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285232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7200" y="526694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09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1560" y="522122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GIS 후보지 분석 결과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5760720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5742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6967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특별법·법률 패키지 필요성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92240" y="1481328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40" y="146304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11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086600" y="14173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손불면 평지축산 시나리오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92240" y="1956816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40" y="193852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86600" y="189280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국립축산과학원 연계 R&amp;D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92240" y="2432304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492240" y="241401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86600" y="236829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예산 확보 전략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92240" y="2907792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492240" y="288950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14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086600" y="284378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단계별 추진 일정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492240" y="3383280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92240" y="336499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15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086600" y="331927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기대효과 종합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492240" y="3858768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92240" y="3840480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16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7086600" y="379476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리스크 및 대응방안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492240" y="4334256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492240" y="4315968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17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086600" y="4270248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주민·농가 협의 계획</a:t>
            </a:r>
          </a:p>
        </p:txBody>
      </p:sp>
      <p:sp>
        <p:nvSpPr>
          <p:cNvPr id="61" name="Rectangle 60"/>
          <p:cNvSpPr/>
          <p:nvPr/>
        </p:nvSpPr>
        <p:spPr>
          <a:xfrm>
            <a:off x="6492240" y="4809744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492240" y="4791456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18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7086600" y="4745736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전라남도 연계 전략</a:t>
            </a:r>
          </a:p>
        </p:txBody>
      </p:sp>
      <p:sp>
        <p:nvSpPr>
          <p:cNvPr id="64" name="Rectangle 63"/>
          <p:cNvSpPr/>
          <p:nvPr/>
        </p:nvSpPr>
        <p:spPr>
          <a:xfrm>
            <a:off x="6492240" y="5285232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492240" y="5266944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19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7086600" y="5221224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다음 행동계획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492240" y="5760720"/>
            <a:ext cx="50292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492240" y="574243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20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086600" y="5696712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참고자료 및 출처</a:t>
            </a:r>
          </a:p>
        </p:txBody>
      </p:sp>
      <p:sp>
        <p:nvSpPr>
          <p:cNvPr id="70" name="Rectangle 6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2 / 20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01  프로젝트 개요 및 배경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한 문장 정의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37360"/>
            <a:ext cx="11430000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37360"/>
            <a:ext cx="91440" cy="77724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1783080"/>
            <a:ext cx="110642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함평군의 기존 축산업을 산지방목, 축사태양광, 주민배당, AI축산, 고부가가치 축산물,
산불예방, 농촌공간 재구조화와 결합한 10년 국가급 농축산 전환 프로젝트로 설계한다.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6974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6974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추진 배경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1546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축산업 고령화·규모화 정체 → 수익성 한계 심화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5387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탄소중립·그린뉴딜 정책 전환 → 친환경 전환 의무화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9227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산지·초지 미활용 증가 → 산불·생태 위험 상승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068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농촌 인구 감소 → 지역소멸 위기 가속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69087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RE100·ESG 수요 확대 → 축사태양광 신시장 개방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2120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52120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목표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6235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B5E20"/>
                </a:solidFill>
                <a:latin typeface="맑은 고딕"/>
              </a:rPr>
              <a:t>2027년 300억 선도사업 착수  →  2036년 1조 8,000억 통합특구 완성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3 / 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02  함평군 현황 — 인구·축산 통계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325880"/>
            <a:ext cx="2286000" cy="123444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4320" y="1325880"/>
            <a:ext cx="22860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총 인구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맑은 고딕"/>
              </a:rPr>
              <a:t>37,012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2167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명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51760" y="1325880"/>
            <a:ext cx="2286000" cy="123444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51760" y="1325880"/>
            <a:ext cx="22860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651760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총 세대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5176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맑은 고딕"/>
              </a:rPr>
              <a:t>21,089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51760" y="2167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세대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0" y="1325880"/>
            <a:ext cx="2286000" cy="123444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0" y="1325880"/>
            <a:ext cx="22860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0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행정구역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맑은 고딕"/>
              </a:rPr>
              <a:t>1읍 8면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167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/>
            </a:r>
          </a:p>
        </p:txBody>
      </p:sp>
      <p:sp>
        <p:nvSpPr>
          <p:cNvPr id="24" name="Rectangle 23"/>
          <p:cNvSpPr/>
          <p:nvPr/>
        </p:nvSpPr>
        <p:spPr>
          <a:xfrm>
            <a:off x="7406640" y="1325880"/>
            <a:ext cx="2286000" cy="123444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406640" y="1325880"/>
            <a:ext cx="22860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06640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면적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0664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맑은 고딕"/>
              </a:rPr>
              <a:t>391.4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06640" y="2167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km²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784080" y="1325880"/>
            <a:ext cx="2286000" cy="123444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9784080" y="1325880"/>
            <a:ext cx="22860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1399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축사 수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169164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맑은 고딕"/>
              </a:rPr>
              <a:t>1,437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84080" y="216712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개소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2743200"/>
            <a:ext cx="2286000" cy="1234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74320" y="2743200"/>
            <a:ext cx="22860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27432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축사 면적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74320" y="3108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  <a:latin typeface="맑은 고딕"/>
              </a:rPr>
              <a:t>1,246천㎡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" y="3584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합계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651760" y="2743200"/>
            <a:ext cx="2286000" cy="1234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651760" y="2743200"/>
            <a:ext cx="22860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5176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영업중 사업장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651760" y="3108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  <a:latin typeface="맑은 고딕"/>
              </a:rPr>
              <a:t>834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651760" y="3584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개소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0" y="2743200"/>
            <a:ext cx="2286000" cy="1234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029200" y="2743200"/>
            <a:ext cx="22860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02920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한우 사업장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3108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  <a:latin typeface="맑은 고딕"/>
              </a:rPr>
              <a:t>381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0" y="3584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개소</a:t>
            </a:r>
          </a:p>
        </p:txBody>
      </p:sp>
      <p:sp>
        <p:nvSpPr>
          <p:cNvPr id="49" name="Rectangle 48"/>
          <p:cNvSpPr/>
          <p:nvPr/>
        </p:nvSpPr>
        <p:spPr>
          <a:xfrm>
            <a:off x="7406640" y="2743200"/>
            <a:ext cx="2286000" cy="1234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06640" y="2743200"/>
            <a:ext cx="22860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0664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돼지 사업장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406640" y="3108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  <a:latin typeface="맑은 고딕"/>
              </a:rPr>
              <a:t>87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406640" y="3584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개소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784080" y="2743200"/>
            <a:ext cx="2286000" cy="123444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9784080" y="2743200"/>
            <a:ext cx="228600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784080" y="28163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태양광 잠재량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784080" y="31089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2E7D32"/>
                </a:solidFill>
                <a:latin typeface="맑은 고딕"/>
              </a:rPr>
              <a:t>125MW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784080" y="3584448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1차 시나리오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65760" y="416052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65760" y="4160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읍면별 축사 분포 주요 현황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57200" y="4617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손불면 218개(최다) · 신광면 196개 · 대동면 177개 · 함평읍 158개 · 엄다면 153개 · 학교면 138개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457200" y="51206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맑은 고딕"/>
              </a:rPr>
              <a:t>※ 공식자료: 함평군 가축사육업 현황, 함평군 축사현황, 통계청 2023</a:t>
            </a:r>
          </a:p>
        </p:txBody>
      </p:sp>
      <p:sp>
        <p:nvSpPr>
          <p:cNvPr id="63" name="Rectangle 6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4 / 20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03  핵심 문제 진단 — 규제·현안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규제 중첩 정량 분석 결과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가축사육제한구역 해당 사업장 93% — 사실상 신규 축사 불가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등록농림지 내 축사 100% → 농지전용·산지전용 이중 규제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511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수계·도로 이격 규정으로 잠재 부지의 70%↑ 탈락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352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현행 법령 내 신규 방목단지 조성 경로 사실상 부재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29184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2918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문제 구조 요약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749039"/>
            <a:ext cx="3474720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3794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현행 규제
한계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3434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맑은 고딕"/>
              </a:rPr>
              <a:t>가축사육제한
농지·산지법
수계이격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297680" y="3749039"/>
            <a:ext cx="3474720" cy="182880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297680" y="3794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결과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97680" y="43434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212121"/>
                </a:solidFill>
                <a:latin typeface="맑은 고딕"/>
              </a:rPr>
              <a:t>신규 부지
확보 불가
기존 농가 고착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749039"/>
            <a:ext cx="3474720" cy="1828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38160" y="379476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필요 조치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60" y="4343400"/>
            <a:ext cx="347472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FFFFFF"/>
                </a:solidFill>
                <a:latin typeface="맑은 고딕"/>
              </a:rPr>
              <a:t>특별법 제정
조례 패키지
특구 지정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977639" y="4434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맑은 고딕"/>
              </a:rPr>
              <a:t>→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18120" y="44348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1B5E20"/>
                </a:solidFill>
                <a:latin typeface="맑은 고딕"/>
              </a:rPr>
              <a:t>→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5 / 20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04  10대 사업축 종합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2103120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A825"/>
                </a:solidFill>
                <a:latin typeface="맑은 고딕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19202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산지·초지
순환방목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51760" y="1371600"/>
            <a:ext cx="2103120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517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A825"/>
                </a:solidFill>
                <a:latin typeface="맑은 고딕"/>
              </a:rPr>
              <a:t>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19202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기존 축사
지붕형 태양광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371600"/>
            <a:ext cx="2103120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77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A825"/>
                </a:solidFill>
                <a:latin typeface="맑은 고딕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9202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축산농가
보상·지분참여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23760" y="1371600"/>
            <a:ext cx="2103120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A825"/>
                </a:solidFill>
                <a:latin typeface="맑은 고딕"/>
              </a:rPr>
              <a:t>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23760" y="19202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주민조합
군민펀드 배당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509760" y="1371600"/>
            <a:ext cx="2103120" cy="20116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509760" y="146304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A825"/>
                </a:solidFill>
                <a:latin typeface="맑은 고딕"/>
              </a:rPr>
              <a:t>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192024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AI Agent
통합관리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703320"/>
            <a:ext cx="2103120" cy="20116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A825"/>
                </a:solidFill>
                <a:latin typeface="맑은 고딕"/>
              </a:rPr>
              <a:t>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42519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법률·인허가
조례 패키지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3703320"/>
            <a:ext cx="2103120" cy="20116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65176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A825"/>
                </a:solidFill>
                <a:latin typeface="맑은 고딕"/>
              </a:rPr>
              <a:t>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651760" y="42519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국립축산과학원
연계 R&amp;D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37760" y="3703320"/>
            <a:ext cx="2103120" cy="20116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3776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A825"/>
                </a:solidFill>
                <a:latin typeface="맑은 고딕"/>
              </a:rPr>
              <a:t>⑧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937760" y="42519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시범단지
100~300ha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223760" y="3703320"/>
            <a:ext cx="2103120" cy="20116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22376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A825"/>
                </a:solidFill>
                <a:latin typeface="맑은 고딕"/>
              </a:rPr>
              <a:t>⑨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42519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통합특구
1조 8,000억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509760" y="3703320"/>
            <a:ext cx="2103120" cy="20116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09760" y="37947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9A825"/>
                </a:solidFill>
                <a:latin typeface="맑은 고딕"/>
              </a:rPr>
              <a:t>⑩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42519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2027년
300억 선도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6 / 20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05  산지·초지 순환방목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개념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산지·초지·농지가 인접한 권역에 순환방목 구획을 설정하고,
한우·면양 등 초식축을 계절별·구획별로 로테이션 방목하는 방식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60604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6060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기대 효과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063240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조사료 자급률 향상 → 사료비 30~40% 절감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447288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산불 예방 연료 제거 → 낙엽·잡관목 지속 관리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831336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고품질 방목육 생산 → 프리미엄 축산물 브랜드화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215384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탄소흡수원 유지·복원 → 탄소크레딧 수익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599432"/>
            <a:ext cx="5486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가축 복지 개선 → 동물복지 인증 취득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260604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0" y="26060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우선 대상 읍면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손불면 — 평지·조사료 최적 (1순위)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47288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신광면 — 산지 접합 우수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3831336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대동면 — 축사 밀집·수계 관리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4215384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엄다면 — 초지화 가능지 다수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92240" y="4599432"/>
            <a:ext cx="5303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학교면 — 산지 비율 높음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516636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51663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입지 선정 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57784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충분한 산지 + 초지 또는 초지화 가능지 + 조사료 농지 인접 + 방역·마을이격·도로접근 가능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7 / 20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06  기존 축사 지붕형 태양광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잠재량 산출 (1차 시나리오)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783080"/>
            <a:ext cx="2194560" cy="128016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60" y="1783080"/>
            <a:ext cx="219456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18562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전체 축사 면적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2148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맑은 고딕"/>
              </a:rPr>
              <a:t>1,246천㎡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26243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/>
            </a:r>
          </a:p>
        </p:txBody>
      </p:sp>
      <p:sp>
        <p:nvSpPr>
          <p:cNvPr id="16" name="Rectangle 15"/>
          <p:cNvSpPr/>
          <p:nvPr/>
        </p:nvSpPr>
        <p:spPr>
          <a:xfrm>
            <a:off x="2697479" y="1783080"/>
            <a:ext cx="2194560" cy="128016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2697479" y="1783080"/>
            <a:ext cx="219456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79" y="18562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지붕 활용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97479" y="2148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맑은 고딕"/>
              </a:rPr>
              <a:t>~780천㎡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97479" y="26243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62% 적용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0" y="1783080"/>
            <a:ext cx="2194560" cy="128016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1783080"/>
            <a:ext cx="219456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0" y="18562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설치 용량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0" y="2148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맑은 고딕"/>
              </a:rPr>
              <a:t>~125MW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0" y="26243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160W/㎡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360919" y="1783080"/>
            <a:ext cx="2194560" cy="128016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360919" y="1783080"/>
            <a:ext cx="219456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60919" y="18562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연간 발전량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60919" y="2148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맑은 고딕"/>
              </a:rPr>
              <a:t>~156GWh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60919" y="26243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1,250시간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692640" y="1783080"/>
            <a:ext cx="2194560" cy="128016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692640" y="1783080"/>
            <a:ext cx="2194560" cy="36576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692640" y="1856232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757575"/>
                </a:solidFill>
                <a:latin typeface="맑은 고딕"/>
              </a:rPr>
              <a:t>연간 수익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92640" y="214884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5E20"/>
                </a:solidFill>
                <a:latin typeface="맑은 고딕"/>
              </a:rPr>
              <a:t>~86억원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92640" y="2624328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757575"/>
                </a:solidFill>
                <a:latin typeface="맑은 고딕"/>
              </a:rPr>
              <a:t>55원/kWh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324612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365760" y="32461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사업 구조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7033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축산농가 지붕 임대 → 농가 임대료 수입(연 500~800만원/농가)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57200" y="40873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발전사업자·지역조합 공동 투자 → 수익 배분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447141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군민펀드 연계 → 지역주민 배당 수익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48554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RE100 기업 PPA 연계 → 프리미엄 단가 확보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65760" y="512064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65760" y="51206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주의사항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55321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D4C41"/>
                </a:solidFill>
                <a:latin typeface="맑은 고딕"/>
              </a:rPr>
              <a:t>가축사육제한구역 93% 해당 → 현행법상 별도 허가 절차 필요 / 특별법 적용 시 일괄 허용 가능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8 / 20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07  주민조합·군민펀드 배당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배당 구조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828800"/>
            <a:ext cx="246888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20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태양광
발전 수익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22402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  <a:latin typeface="맑은 고딕"/>
              </a:rP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91840" y="1828800"/>
            <a:ext cx="246888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1920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지역에너지
협동조합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06440" y="22402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  <a:latin typeface="맑은 고딕"/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828800"/>
            <a:ext cx="246888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920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군민펀드
운용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2240280"/>
            <a:ext cx="3200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B5E20"/>
                </a:solidFill>
                <a:latin typeface="맑은 고딕"/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961120" y="1828800"/>
            <a:ext cx="2468880" cy="118872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0" y="1920240"/>
            <a:ext cx="2468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주민 1인당
배당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324612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32461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배당 시나리오 (연간)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7200" y="3749039"/>
            <a:ext cx="356616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3794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맑은 고딕"/>
              </a:rPr>
              <a:t>보수적 (50MW)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4251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연간 43억원 발전수익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4754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57575"/>
                </a:solidFill>
                <a:latin typeface="맑은 고딕"/>
              </a:rPr>
              <a:t>가구당 약 20만원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06240" y="3749039"/>
            <a:ext cx="3566160" cy="1828800"/>
          </a:xfrm>
          <a:prstGeom prst="rect">
            <a:avLst/>
          </a:prstGeom>
          <a:solidFill>
            <a:srgbClr val="A5D6A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06240" y="3749039"/>
            <a:ext cx="3566160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206240" y="3794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맑은 고딕"/>
              </a:rPr>
              <a:t>기본 (125MW)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06240" y="4251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연간 86억원 발전수익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754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5E20"/>
                </a:solidFill>
                <a:latin typeface="맑은 고딕"/>
              </a:rPr>
              <a:t>가구당 약 41만원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955279" y="3749039"/>
            <a:ext cx="3566160" cy="1828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79" y="37947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1B5E20"/>
                </a:solidFill>
                <a:latin typeface="맑은 고딕"/>
              </a:rPr>
              <a:t>적극 (200MW)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55279" y="4251960"/>
            <a:ext cx="3566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연간 110억원 발전수익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79" y="4754880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757575"/>
                </a:solidFill>
                <a:latin typeface="맑은 고딕"/>
              </a:rPr>
              <a:t>가구당 약 52만원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9 / 20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08  AI Agent 통합관리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시스템 개요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AI 기반 통합 플랫폼으로 방목·태양광·방역·배당을 실시간 연동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3172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65760" y="2331720"/>
            <a:ext cx="2743200" cy="457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377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방목 모니터링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288036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GPS 위치추적
채식량 자동 측정
구획 로테이션 알림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233172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2331720"/>
            <a:ext cx="2743200" cy="457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2377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태양광 관리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88036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발전량 실시간 모니터
이상 탐지 AI 경보
수익 자동 정산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217920" y="233172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2331720"/>
            <a:ext cx="2743200" cy="457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17920" y="2377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방역 관리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288036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질병 조기경보
차단방역 동선 최적화
입출입 기록 자동화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0" y="2331720"/>
            <a:ext cx="2743200" cy="32004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144000" y="2331720"/>
            <a:ext cx="2743200" cy="457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23774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배당 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81160" y="2880360"/>
            <a:ext cx="24688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조합원 수익 자동 계산
배당 명세 자동 발송
군민펀드 실시간 현황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맑은 고딕"/>
              </a:rPr>
              <a:t>※ 국립축산과학원 R&amp;D + 민간 AI 기업 협력 개발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10 / 20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09  GIS 후보지 분석 결과 (v2.1)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분석 데이터셋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▪  DEM·행정경계·수계·도로·토지피복 (OSM·Copernicus 오픈소스)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▪  연속지적도·용도지역·가축사육제한구역 (VWorld API)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511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▪  축사 주소 지오코딩 1,429/1,437개소(99.4%) 완료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352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▪  지목 기반 방목적합지 추출 — 연속지적도 24만 필지 분석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9260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9260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점수화 체계 (v2.1)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3832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5760" y="3383280"/>
            <a:ext cx="73152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456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산지·초지 면적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34564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5E20"/>
                </a:solidFill>
                <a:latin typeface="맑은 고딕"/>
              </a:rPr>
              <a:t>30점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06240" y="33832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206240" y="3383280"/>
            <a:ext cx="73152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343400" y="3456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조사료 농지 인접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0" y="34564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5E20"/>
                </a:solidFill>
                <a:latin typeface="맑은 고딕"/>
              </a:rPr>
              <a:t>20점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046720" y="33832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46720" y="3383280"/>
            <a:ext cx="73152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83880" y="34564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수계·도로 이격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881360" y="34564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5E20"/>
                </a:solidFill>
                <a:latin typeface="맑은 고딕"/>
              </a:rPr>
              <a:t>15점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40690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5760" y="4069080"/>
            <a:ext cx="73152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2920" y="4142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규제 중첩도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41422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5E20"/>
                </a:solidFill>
                <a:latin typeface="맑은 고딕"/>
              </a:rPr>
              <a:t>15점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206240" y="40690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206240" y="4069080"/>
            <a:ext cx="73152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43400" y="4142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기존 축사 밀도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0" y="41422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5E20"/>
                </a:solidFill>
                <a:latin typeface="맑은 고딕"/>
              </a:rPr>
              <a:t>10점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046720" y="4069080"/>
            <a:ext cx="365760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046720" y="4069080"/>
            <a:ext cx="73152" cy="59436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4142232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마을 이격 거리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881360" y="4142232"/>
            <a:ext cx="731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 i="0">
                <a:solidFill>
                  <a:srgbClr val="1B5E20"/>
                </a:solidFill>
                <a:latin typeface="맑은 고딕"/>
              </a:rPr>
              <a:t>10점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" y="5166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D4C41"/>
                </a:solidFill>
                <a:latin typeface="맑은 고딕"/>
              </a:rPr>
              <a:t>※ 후보지 10곳 → 3곳 압축 → 최종 1곳 현장조사 계획 수립 진행 중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57200" y="5532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D4C41"/>
                </a:solidFill>
                <a:latin typeface="맑은 고딕"/>
              </a:rPr>
              <a:t>※ 보전산지·초지 파일 확보 후 필지 단위 최종 선정 예정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11 / 20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10  특별법·법률 패키지 필요성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현행 규제 한계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가축분뇨법 · 가축사육제한조례 → 신규 축사 및 방목단지 허가 실질 차단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농지법 · 산지관리법 중복 규제 → 농림지 전용 이중 절차 필요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511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소규모 농가 REC·PPA 참여 법적 근거 미비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301752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30175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특별법 핵심 조항 (안)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4747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산지방목 특구 지정 → 가축사육제한구역 적용 특례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587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친환경축산 용도구역 설정 → 농지·산지 전용 간소화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24281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축사태양광 공동개발 허용 → 소규모 농가 참여 법적 근거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6268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주민배당형 에너지협동조합 법인격 신설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50109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지방자치단체 주도 축산구조전환 사업 근거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5440680"/>
            <a:ext cx="11430000" cy="73152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486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9A825"/>
                </a:solidFill>
                <a:latin typeface="맑은 고딕"/>
              </a:rPr>
              <a:t>결론: 현행 규제 체계 내에서는 사업 진행 불가 → 특별법 제정이 선결 조건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12 / 20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11  손불면 평지축산 시나리오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손불면 선정 이유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함평군 축사 수 최다 (218개소, 15.2%) — 집약적 관리 유리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평지·조사료 농지 비율 높음 → 사육두수 확대 여지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511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기존 축사 밀집 → 태양광 설치 잠재 최대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74320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743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시나리오 내용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004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3200400"/>
            <a:ext cx="2743200" cy="4114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227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조사료 자급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37033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조사료 농지 확대
호당 30% 자급
→ 사료비 절감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91840" y="32004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91840" y="3200400"/>
            <a:ext cx="2743200" cy="4114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3227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사육두수 확대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429000" y="37033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초지화 가능지 활용
현 대비 20% 증두
→ 소득 증대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217920" y="32004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217920" y="3200400"/>
            <a:ext cx="2743200" cy="4114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217920" y="3227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태양광 발전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55080" y="37033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218개소 전면 설치
추정 21.8MW
→ 연간 14억원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144000" y="3200400"/>
            <a:ext cx="2743200" cy="2286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44000" y="3200400"/>
            <a:ext cx="2743200" cy="41148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0" y="322783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통합 브랜드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281160" y="3703320"/>
            <a:ext cx="2468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손불 그린한우
프리미엄 출하
→ kg당 15% 프리미엄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56692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57575"/>
                </a:solidFill>
                <a:latin typeface="맑은 고딕"/>
              </a:rPr>
              <a:t>※ 기준값은 공식자료 재집계 후 재설정 가능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13 / 20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12  국립축산과학원 연계 R&amp;D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연계 필요성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37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산지방목 기술기준 부재 → 과학적 실증 데이터 필수 / 정부 R&amp;D 예산 확보 통로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233172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65760" y="233172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주요 연구 과제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78892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한국형 산지방목 기술기준 수립 (구획면적·두수밀도·로테이션 주기)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17296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방목 한우·면양 성장·품질 실증 데이터 구축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55701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조사료 자급 모델 최적화 (사료작물 선발·수확 체계)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94106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축사태양광 설치 기준 및 발전·축산 복합 효율 실증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32511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AI 기반 방역·건강관리 시스템 현장 적용 연구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7091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탄소흡수량 측정 방법론 개발 → 탄소크레딧 인증 체계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" y="512064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512064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협력 모델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5532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B5E20"/>
                </a:solidFill>
                <a:latin typeface="맑은 고딕"/>
              </a:rPr>
              <a:t>국립축산과학원 현장 시험지 지정 → 함평군 시범단지 → 전국 확산 모델 개발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14 / 20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13  예산 확보 전략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단계별 예산 목표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1828800"/>
            <a:ext cx="196596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28800"/>
            <a:ext cx="20116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기간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828800"/>
            <a:ext cx="224028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377440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단계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1828800"/>
            <a:ext cx="224028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63440" y="1828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예산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949440" y="1828800"/>
            <a:ext cx="452628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49440" y="182880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재원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2286000"/>
            <a:ext cx="1965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233172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2027년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377440" y="2286000"/>
            <a:ext cx="2240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23160" y="2331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선도사업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663440" y="2286000"/>
            <a:ext cx="2240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09160" y="233172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12121"/>
                </a:solidFill>
                <a:latin typeface="맑은 고딕"/>
              </a:rPr>
              <a:t>300억원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949440" y="2286000"/>
            <a:ext cx="4526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233172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군비+도비+국비 매칭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2926080"/>
            <a:ext cx="196596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11480" y="29718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2028~2030년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377440" y="2926080"/>
            <a:ext cx="224028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423160" y="2971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1단계 확장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663440" y="2926080"/>
            <a:ext cx="224028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709160" y="2971800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12121"/>
                </a:solidFill>
                <a:latin typeface="맑은 고딕"/>
              </a:rPr>
              <a:t>2,500억원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949440" y="2926080"/>
            <a:ext cx="4526280" cy="59436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2971800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국가균형발전특별회계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65760" y="3566160"/>
            <a:ext cx="196596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11480" y="361187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2031~2036년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3566160"/>
            <a:ext cx="2240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423160" y="361187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통합특구 완성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663440" y="3566160"/>
            <a:ext cx="2240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709160" y="361187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12121"/>
                </a:solidFill>
                <a:latin typeface="맑은 고딕"/>
              </a:rPr>
              <a:t>1조 5,200억원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949440" y="3566160"/>
            <a:ext cx="452628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60" y="3611879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통합특구법 특별예산</a:t>
            </a:r>
          </a:p>
        </p:txBody>
      </p:sp>
      <p:sp>
        <p:nvSpPr>
          <p:cNvPr id="43" name="Rectangle 42"/>
          <p:cNvSpPr/>
          <p:nvPr/>
        </p:nvSpPr>
        <p:spPr>
          <a:xfrm>
            <a:off x="365760" y="4206240"/>
            <a:ext cx="196596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1480" y="4251959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합계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377440" y="4206240"/>
            <a:ext cx="224028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2423160" y="425195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10년 총계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663440" y="4206240"/>
            <a:ext cx="224028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709160" y="4251959"/>
            <a:ext cx="2194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5E20"/>
                </a:solidFill>
                <a:latin typeface="맑은 고딕"/>
              </a:rPr>
              <a:t>1조 8,000억원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949440" y="4206240"/>
            <a:ext cx="4526280" cy="594360"/>
          </a:xfrm>
          <a:prstGeom prst="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995160" y="4251959"/>
            <a:ext cx="4480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국가급 농축산 전환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65760" y="502920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502920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재원 조달 채널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▪  농식품부 스마트팜·축산환경 개선 국고보조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5806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▪  전라남도 그린에너지·농촌공간재구조화 도비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457200" y="612648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▪  RPS 신재생에너지 공급인증서(REC) 수익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457200" y="64465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▪  민간 RE100 기업 PPA 투자 유치</a:t>
            </a:r>
          </a:p>
        </p:txBody>
      </p:sp>
      <p:sp>
        <p:nvSpPr>
          <p:cNvPr id="57" name="Rectangle 5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15 / 20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14  단계별 추진 일정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28346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0040" y="1371600"/>
            <a:ext cx="2834640" cy="6858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4173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1단계
2026~2027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945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특별법 입법 추진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63239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GIS 후보지 1곳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9319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시범단지 기본계획 수립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48006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300억 선도사업 예산 확보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91840" y="1371600"/>
            <a:ext cx="28346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291840" y="1371600"/>
            <a:ext cx="283464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91840" y="14173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2단계
2028~2030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29000" y="21945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시범단지 조성 착수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3063239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방목 실증 R&amp;D 시작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29000" y="39319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축사태양광 1차 설치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29000" y="48006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주민조합 설립·운영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263640" y="1371600"/>
            <a:ext cx="28346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63640" y="1371600"/>
            <a:ext cx="283464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14173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3단계
2031~2033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21945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방목단지 100ha 완성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3063239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태양광 50MW 달성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9319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군민펀드 배당 개시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8006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AI플랫폼 전면 가동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235440" y="1371600"/>
            <a:ext cx="2834640" cy="4846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35440" y="1371600"/>
            <a:ext cx="2834640" cy="6858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235440" y="1417320"/>
            <a:ext cx="28346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맑은 고딕"/>
              </a:rPr>
              <a:t>4단계
2034~2036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219456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통합특구 300ha 완성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3063239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125MW 발전 목표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372600" y="393192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전국 확산 모델 수출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72600" y="4800600"/>
            <a:ext cx="2606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✓  1조 8,000억 완성</a:t>
            </a:r>
          </a:p>
        </p:txBody>
      </p:sp>
      <p:sp>
        <p:nvSpPr>
          <p:cNvPr id="37" name="Rectangle 36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16 / 20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15  기대효과 종합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65760" y="1371600"/>
            <a:ext cx="3749039" cy="45720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" y="139903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경제적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19659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 10년 누적 생산유발 2조 2천억원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292608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 지역 고용 창출 2,200명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388620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 농가 소득 30~50% 향상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84632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 군민 1인당 연 배당 41만원(기본)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97680" y="137160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97680" y="1371600"/>
            <a:ext cx="3749039" cy="457200"/>
          </a:xfrm>
          <a:prstGeom prst="rect">
            <a:avLst/>
          </a:prstGeom>
          <a:solidFill>
            <a:srgbClr val="0157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97680" y="139903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환경·생태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4840" y="19659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 탄소 감축 연 12만톤 CO₂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4840" y="292608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 산불 예방 연료 제거 연 1,500ha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34840" y="388620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 생물다양성 회복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84632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 축산 악취·오염수 저감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1371600"/>
            <a:ext cx="3749039" cy="4754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229600" y="1371600"/>
            <a:ext cx="3749039" cy="457200"/>
          </a:xfrm>
          <a:prstGeom prst="rect">
            <a:avLst/>
          </a:prstGeom>
          <a:solidFill>
            <a:srgbClr val="6D4C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399032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맑은 고딕"/>
              </a:rPr>
              <a:t>사회·지역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196596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 농촌공간 재구조화 모델 구축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292608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 청년 귀농 유입 → 인구 감소 완화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388620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 함평군 전국 그린축산 선도지위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846320"/>
            <a:ext cx="35204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212121"/>
                </a:solidFill>
                <a:latin typeface="맑은 고딕"/>
              </a:rPr>
              <a:t>▸  전국 확산 모델 수출 가능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17 / 20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16  리스크 및 대응방안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1417320"/>
            <a:ext cx="269748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1417320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리스크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417320"/>
            <a:ext cx="105156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41732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가능성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114800" y="1417320"/>
            <a:ext cx="8001000" cy="41148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14800" y="14173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대응방안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874519"/>
            <a:ext cx="2697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1920240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특별법 입법 지연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017520" y="1874519"/>
            <a:ext cx="10515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63240" y="1920240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C62828"/>
                </a:solidFill>
                <a:latin typeface="맑은 고딕"/>
              </a:rPr>
              <a:t>높음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0" y="1874519"/>
            <a:ext cx="8001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60520" y="1920240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지방자치단체 규제샌드박스 선적용 + 조례 우선 제정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2532887"/>
            <a:ext cx="26974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2578608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지역주민 반대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017520" y="2532887"/>
            <a:ext cx="105156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063240" y="2578608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  <a:latin typeface="맑은 고딕"/>
              </a:rPr>
              <a:t>중간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114800" y="2532887"/>
            <a:ext cx="8001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160520" y="2578608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비공개 간담회 → 배당 모델 조기 가시화 → 찬성 여론 형성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3191256"/>
            <a:ext cx="2697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3236976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축산농가 참여 저조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3191256"/>
            <a:ext cx="10515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63240" y="3236976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  <a:latin typeface="맑은 고딕"/>
              </a:rPr>
              <a:t>중간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114800" y="3191256"/>
            <a:ext cx="8001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60520" y="3236976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선도 농가 인센티브 + 지분참여 구조로 이해관계 일치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" y="3849624"/>
            <a:ext cx="26974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20040" y="3895344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GIS 부지 확보 실패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3017520" y="3849624"/>
            <a:ext cx="105156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063240" y="3895344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2E7D32"/>
                </a:solidFill>
                <a:latin typeface="맑은 고딕"/>
              </a:rPr>
              <a:t>낮음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114800" y="3849624"/>
            <a:ext cx="8001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160520" y="3895344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9개 읍면 동시 평가 → 대안 부지 3~5개 확보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4507992"/>
            <a:ext cx="269748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4553712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예산 미확보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017520" y="4507992"/>
            <a:ext cx="105156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063240" y="4553712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  <a:latin typeface="맑은 고딕"/>
              </a:rPr>
              <a:t>중간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114800" y="4507992"/>
            <a:ext cx="8001000" cy="621792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160520" y="4553712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전라남도 도비 선확보 + 민간투자 병행으로 의존도 분산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" y="5166359"/>
            <a:ext cx="269748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20040" y="5212079"/>
            <a:ext cx="26517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12121"/>
                </a:solidFill>
                <a:latin typeface="맑은 고딕"/>
              </a:rPr>
              <a:t>기상·질병 리스크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017520" y="5166359"/>
            <a:ext cx="105156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063240" y="5212079"/>
            <a:ext cx="100584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9A825"/>
                </a:solidFill>
                <a:latin typeface="맑은 고딕"/>
              </a:rPr>
              <a:t>중간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14800" y="5166359"/>
            <a:ext cx="8001000" cy="621792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160520" y="5212079"/>
            <a:ext cx="795528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12121"/>
                </a:solidFill>
                <a:latin typeface="맑은 고딕"/>
              </a:rPr>
              <a:t>AI 방역 조기경보 + 분산방목 구조로 피해 최소화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18 / 20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43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88952" cy="54864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9144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9A825"/>
                </a:solidFill>
                <a:latin typeface="맑은 고딕"/>
              </a:rPr>
              <a:t>함평군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5943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Hampyeong-gun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1440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맑은 고딕"/>
              </a:rPr>
              <a:t>19  다음 행동계획 (Next Steps)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41148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F9A825"/>
                </a:solidFill>
                <a:latin typeface="맑은 고딕"/>
              </a:rPr>
              <a:t>나비의 고장 함평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32588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즉시 착수 (2026. 6~8)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78308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보전산지·초지·악취민원·방역권역 GIS 자료 확보 (산림청/농식품부)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16712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후보지 10곳 도출 → 3곳 압축 → 최종 1곳 현장조사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55117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축산농가 비공개 간담회 자료 준비 및 개최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293522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특별법 입법 로드맵 수립 (법무사·행정사 협의)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3337560"/>
            <a:ext cx="2011680" cy="347472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3337560"/>
            <a:ext cx="20116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맑은 고딕"/>
              </a:rPr>
              <a:t>하반기 목표 (2026. 9~12)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9476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주민설명회 자료 작성 및 설명회 개최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417880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군수·군의회 보고자료 최종 확정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4562856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전라남도·통합예산 제안 패키지 제출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4946904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국립축산과학원 연계 협의 착수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330952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121"/>
                </a:solidFill>
                <a:latin typeface="맑은 고딕"/>
              </a:rPr>
              <a:t>▪  2027년 선도사업 예산 확보 신청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5669280"/>
            <a:ext cx="11430000" cy="59436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5715000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9A825"/>
                </a:solidFill>
                <a:latin typeface="맑은 고딕"/>
              </a:rPr>
              <a:t>🎯  목표: 2027년 3월 300억 선도사업 착공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74320" y="6565392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5D6A7"/>
                </a:solidFill>
                <a:latin typeface="맑은 고딕"/>
              </a:rPr>
              <a:t>함평 산지방목 그린축산·에너지공유 특구 조성사업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565392"/>
            <a:ext cx="640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5D6A7"/>
                </a:solidFill>
                <a:latin typeface="맑은 고딕"/>
              </a:rPr>
              <a:t>19 / 20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88952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097280"/>
            <a:ext cx="96012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FFFFFF"/>
                </a:solidFill>
                <a:latin typeface="맑은 고딕"/>
              </a:rPr>
              <a:t>함평이 먼저, 전국이 따른다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14884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A5D6A7"/>
                </a:solidFill>
                <a:latin typeface="맑은 고딕"/>
              </a:rPr>
              <a:t>산지방목 × 그린에너지 × 주민배당 × AI축산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3474720"/>
            <a:ext cx="9601200" cy="2011680"/>
          </a:xfrm>
          <a:prstGeom prst="rect">
            <a:avLst/>
          </a:prstGeom>
          <a:solidFill>
            <a:srgbClr val="1650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3611880"/>
            <a:ext cx="92354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FFFFFF"/>
                </a:solidFill>
                <a:latin typeface="맑은 고딕"/>
              </a:rPr>
              <a:t>함평 산지방목 그린축산·에너지공유 특구 조성사업
10년 총 1조 8,000억원 투자 · 탄소감축 연 12만톤
군민 1인 연 배당 41만원 · 고용 2,200명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557784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9A825"/>
                </a:solidFill>
                <a:latin typeface="맑은 고딕"/>
              </a:rPr>
              <a:t>Q &amp; 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0" y="6217920"/>
            <a:ext cx="6858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A5D6A7"/>
                </a:solidFill>
                <a:latin typeface="맑은 고딕"/>
              </a:rPr>
              <a:t>함평군청  |  산지방목특구추진단  |  2026. 06.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