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34640" y="0"/>
            <a:ext cx="137160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0"/>
            <a:ext cx="92628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9262872" cy="137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00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전남광주
미래전환기금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6517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5D6A7"/>
                </a:solidFill>
                <a:latin typeface="맑은 고딕"/>
              </a:rPr>
              <a:t>Future
Transformation
Fund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217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맑은 고딕"/>
              </a:rPr>
              <a:t>보고일: 2026. 06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457200"/>
            <a:ext cx="1645920" cy="1645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457200"/>
            <a:ext cx="1645920" cy="1645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7315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맑은 고딕"/>
              </a:rPr>
              <a:t>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73152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맑은 고딕"/>
              </a:rPr>
              <a:t>전남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7E"/>
                </a:solidFill>
                <a:latin typeface="맑은 고딕"/>
              </a:rPr>
              <a:t>전남광주특별시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26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237E"/>
                </a:solidFill>
                <a:latin typeface="맑은 고딕"/>
              </a:rPr>
              <a:t>20조 원을 100년 성장자본으로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57575"/>
                </a:solidFill>
                <a:latin typeface="맑은 고딕"/>
              </a:rPr>
              <a:t>전남광주 미래전환기금 조성 및 국민연금식 장기자산배분 운용방안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4343400"/>
            <a:ext cx="8229600" cy="45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434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57575"/>
                </a:solidFill>
                <a:latin typeface="맑은 고딕"/>
              </a:rPr>
              <a:t>민형배 시장 보고자료 | 전남광주통합특별시 출범 대비 재정전략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5C0"/>
                </a:solidFill>
                <a:latin typeface="맑은 고딕"/>
              </a:rPr>
              <a:t>핵심 슬로건: 쓰고 끝나는 20조가 아니라, 매년 돌아오는 20조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목 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45720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252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252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현황과 문제 인식 — 20조의 기회와 위기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2252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45720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739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739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두 가지 선택: 예산 vs 자본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7739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45720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225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32257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제안 핵심: 전남광주 미래전환기금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3225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34639"/>
            <a:ext cx="45720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71215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87121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기금 규모 시나리오 (8·12·15조)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871215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83280"/>
            <a:ext cx="45720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4198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41985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운용 구조: 국민연금식 자산배분 벤치마크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4198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31920"/>
            <a:ext cx="45720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9684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684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참조 포트폴리오 설계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9684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80559"/>
            <a:ext cx="45720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5171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5171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OCIO 위탁운용 구조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45171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029200"/>
            <a:ext cx="45720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0657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06577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지역전략투자 분야 (AI·에너지·농수축산 등)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50657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577840"/>
            <a:ext cx="45720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6144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1441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법률·제도 선결 과제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56144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1188720"/>
            <a:ext cx="45720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12252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12252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기금 거버넌스 — 정치 개입 차단 장치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122529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1737360"/>
            <a:ext cx="45720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17739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17739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해외 성공사례 비교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177393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p.13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2286000"/>
            <a:ext cx="45720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23225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23225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이해당사자별 설득 논리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232257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2834639"/>
            <a:ext cx="45720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2871215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2871215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예상 반론 Q&amp;A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0" y="2871215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p.15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3383280"/>
            <a:ext cx="45720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34198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341985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수익 시뮬레이션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47120" y="341985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3931920"/>
            <a:ext cx="45720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20" y="39684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0" y="39684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추진 로드맵 (6개월)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247120" y="396849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p.17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4480559"/>
            <a:ext cx="45720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451713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6560" y="45171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성과지표 체계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47120" y="451713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p.18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5029200"/>
            <a:ext cx="45720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0" y="50657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17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0" y="50657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핵심 슬로건과 메시지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47120" y="506577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p.19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0" y="5577840"/>
            <a:ext cx="45720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17920" y="56144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66560" y="561441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결론 및 지금 필요한 결정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247120" y="561441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57575"/>
                </a:solidFill>
                <a:latin typeface="맑은 고딕"/>
              </a:rPr>
              <a:t>p.20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현황과 문제 인식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01 | 전남광주특별시 출범과 20조 원의 기회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560320" cy="1097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중앙정부 지원 규모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20조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2377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EFB"/>
                </a:solidFill>
                <a:latin typeface="맑은 고딕"/>
              </a:rPr>
              <a:t>원 (4년)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188720"/>
            <a:ext cx="2560320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234440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통합 인구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48132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320만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38528"/>
            <a:ext cx="2377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EFB"/>
                </a:solidFill>
                <a:latin typeface="맑은 고딕"/>
              </a:rPr>
              <a:t>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188720"/>
            <a:ext cx="2560320" cy="10972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234440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출범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48132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2026.07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938528"/>
            <a:ext cx="2377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EFB"/>
                </a:solidFill>
                <a:latin typeface="맑은 고딕"/>
              </a:rPr>
              <a:t>전남광주특별시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1188720"/>
            <a:ext cx="283464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234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4년 후 재원(기존 방식)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4813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0원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93852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EFB"/>
                </a:solidFill>
                <a:latin typeface="맑은 고딕"/>
              </a:rPr>
              <a:t>소멸 확정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514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맑은 고딕"/>
              </a:rPr>
              <a:t>■ 기존 방식대로 집행하면 어떻게 되는가?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71800"/>
            <a:ext cx="2377440" cy="329184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999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지출 방식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971800"/>
            <a:ext cx="2377440" cy="329184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2999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단기 장점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971800"/>
            <a:ext cx="6217920" cy="329184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999232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구조적 한계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37560"/>
            <a:ext cx="23774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335584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SOC·도로·청사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3337560"/>
            <a:ext cx="23774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335584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가시 성과 빠름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3337560"/>
            <a:ext cx="62179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9552" y="3355848"/>
            <a:ext cx="6071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32F2F"/>
                </a:solidFill>
                <a:latin typeface="맑은 고딕"/>
              </a:rPr>
              <a:t>유지관리비 영구 부담, 정치 배분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21608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3739896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산업단지 조성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3721608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9232" y="3739896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기업유치 명분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3721608"/>
            <a:ext cx="6217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59552" y="3739896"/>
            <a:ext cx="6071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32F2F"/>
                </a:solidFill>
                <a:latin typeface="맑은 고딕"/>
              </a:rPr>
              <a:t>미분양·중복투자 위험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105656"/>
            <a:ext cx="23774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4123944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보조금 살포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4105656"/>
            <a:ext cx="237744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99232" y="4123944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단기 체감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4105656"/>
            <a:ext cx="6217920" cy="3657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59552" y="4123944"/>
            <a:ext cx="6071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32F2F"/>
                </a:solidFill>
                <a:latin typeface="맑은 고딕"/>
              </a:rPr>
              <a:t>의존성 심화, 4년 후 소멸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489704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450799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숙원사업 분산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4489704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9232" y="450799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반발 완화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4489704"/>
            <a:ext cx="6217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9552" y="4507992"/>
            <a:ext cx="6071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32F2F"/>
                </a:solidFill>
                <a:latin typeface="맑은 고딕"/>
              </a:rPr>
              <a:t>전략성 소멸, 100년 계획 불가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983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2F2F"/>
                </a:solidFill>
                <a:latin typeface="맑은 고딕"/>
              </a:rPr>
              <a:t>⚠  4년 집행 후 재원 소멸 → 유지관리비와 정치갈등만 잔존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983480"/>
            <a:ext cx="11430000" cy="34747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0292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2F2F"/>
                </a:solidFill>
                <a:latin typeface="맑은 고딕"/>
              </a:rPr>
              <a:t>⚠  4년 집행 후 재원 소멸 → 유지관리비와 정치갈등만 잔존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486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맑은 고딕"/>
              </a:rPr>
              <a:t>→ 전남광주특별시는 20조 원을 '소비'하는 도시가 아니라 '자본화'하는 도시가 되어야 한다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두 가지 선택: 예산 vs 자본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02 | 전통적 예산 방식과 미래전환기금 방식의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394960" cy="50292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097280"/>
            <a:ext cx="5943600" cy="5029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394960" cy="50292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</a:rPr>
              <a:t>❌  전통적 예산 방식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59436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1430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</a:rPr>
              <a:t>✅  미래전환기금 방식 (권장)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20조 원 → SOC·보조금·숙원사업 분산 집행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4년 집행 → 재원 0원 소멸 (확정)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완공 후 유지관리비 영구 증가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선거 주기 중심, 단기성과 편향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중앙 지원 종료 후 독자 재원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정치적 배분 → 전략성 소멸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미래세대에게 빚과 유지비만 남김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783080"/>
            <a:ext cx="228600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7373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12조 기금 + 8조 직접전략투자 병행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2331720"/>
            <a:ext cx="228600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2860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연 4% 기준 → 매년 4,800억 원 수익 지속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880359"/>
            <a:ext cx="228600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83463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원금 보전 → 100년 후에도 작동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428999"/>
            <a:ext cx="228600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38327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국민연금식 장기분산·위험관리 벤치마크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3977639"/>
            <a:ext cx="228600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9319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중앙 지원 종료 후에도 독자 전략재원 확보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4526280"/>
            <a:ext cx="228600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4805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공개경쟁 OCIO → 정치 개입 차단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5074920"/>
            <a:ext cx="228600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50292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미래세대에게 지속 가능한 성장자본 승계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623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맑은 고딕"/>
              </a:rPr>
              <a:t>20년 누적 수익(12조·4%): 약 9.6조 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제안 핵심: 전남광주 미래전환기금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03 | 5대 설계 원칙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7315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B300"/>
                </a:solidFill>
                <a:latin typeface="맑은 고딕"/>
              </a:rPr>
              <a:t>"20조 원을 100년 성장자본으로"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2148840" cy="4023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①  원금보전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70048"/>
            <a:ext cx="1965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원금은 미래세대 자산
임의 사용 금지 (재난·위기 시 의회 2/3 동의)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011680"/>
            <a:ext cx="2148840" cy="4023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1031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②  장기분산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670048"/>
            <a:ext cx="1965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74320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국내외 주식·채권·대체투자 분산
국민연금식 원칙 벤치마크 (복제 아님)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011680"/>
            <a:ext cx="2148840" cy="40233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21031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③  수익지출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59" y="2670048"/>
            <a:ext cx="1965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274320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운용수익 범위 내 지출
연간 지출률 상한 설정 (3~4.5%)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011680"/>
            <a:ext cx="2148840" cy="4023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59" y="21031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④  공공성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59" y="2670048"/>
            <a:ext cx="1965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274320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재무수익률 + 지역 파급효과
Double Bottom 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2011680"/>
            <a:ext cx="2148840" cy="40233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1031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⑤  투명성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2670048"/>
            <a:ext cx="1965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74320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운용성과·지출 전면 공개
외부감사·의회보고 의무화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32F2F"/>
                </a:solidFill>
                <a:latin typeface="맑은 고딕"/>
              </a:rPr>
              <a:t>★ 핵심 선결 과제: 특별법·교부조건에 '기금 출연 가능성' 명시 — 교부조건 확정 전이 골든타임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기금 규모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04 | 8조 / 12조 / 15조 비교 및 권장안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33856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</a:rPr>
              <a:t>8조 원
기금화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직접투자: 12조
정치 수용성: 높음
시군 갈등: 낮음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97280"/>
            <a:ext cx="365760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133856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</a:rPr>
              <a:t>12조 원
기금화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181051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직접투자: 8조
정치 수용성: 중간
시군 갈등: 중간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3657600" cy="6400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133856"/>
            <a:ext cx="3474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맑은 고딕"/>
              </a:rPr>
              <a:t>15조 원
기금화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81051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직접투자: 5조
정치 수용성: 낮음
시군 갈등: 높음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16459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834639"/>
            <a:ext cx="1499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맑은 고딕"/>
              </a:rPr>
              <a:t>연 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3657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834639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맑은 고딕"/>
              </a:rPr>
              <a:t>2,400억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788920"/>
            <a:ext cx="3657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2834639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맑은 고딕"/>
              </a:rPr>
              <a:t>3,600억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788920"/>
            <a:ext cx="3657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2834639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맑은 고딕"/>
              </a:rPr>
              <a:t>4,500억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83279"/>
            <a:ext cx="1645920" cy="54864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3428999"/>
            <a:ext cx="1499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12121"/>
                </a:solidFill>
                <a:latin typeface="맑은 고딕"/>
              </a:rPr>
              <a:t>연 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83279"/>
            <a:ext cx="3657600" cy="54864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428999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12121"/>
                </a:solidFill>
                <a:latin typeface="맑은 고딕"/>
              </a:rPr>
              <a:t>3,200억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383279"/>
            <a:ext cx="3657600" cy="54864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3428999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12121"/>
                </a:solidFill>
                <a:latin typeface="맑은 고딕"/>
              </a:rPr>
              <a:t>4,800억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383279"/>
            <a:ext cx="3657600" cy="548640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2" y="3428999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12121"/>
                </a:solidFill>
                <a:latin typeface="맑은 고딕"/>
              </a:rPr>
              <a:t>6,000억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77639"/>
            <a:ext cx="16459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4023359"/>
            <a:ext cx="14996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맑은 고딕"/>
              </a:rPr>
              <a:t>연 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77639"/>
            <a:ext cx="3657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4023359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맑은 고딕"/>
              </a:rPr>
              <a:t>4,000억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977639"/>
            <a:ext cx="3657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79392" y="4023359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맑은 고딕"/>
              </a:rPr>
              <a:t>6,000억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3977639"/>
            <a:ext cx="365760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9872" y="4023359"/>
            <a:ext cx="3511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맑은 고딕"/>
              </a:rPr>
              <a:t>7,500억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663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맑은 고딕"/>
              </a:rPr>
              <a:t>★ 권장: 12조 기금화 — 장기성과·현실성·정치 수용성의 최적 균형점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663440"/>
            <a:ext cx="1143000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70916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맑은 고딕"/>
              </a:rPr>
              <a:t>★ 권장: 12조 기금화 — 장기성과·현실성·정치 수용성의 최적 균형점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212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</a:rPr>
              <a:t>복리 재투자 30% 시: 30년 후 기금 원금 약 20.2조로 성장, 연 지출 가용액 5,656억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5778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맑은 고딕"/>
              </a:rPr>
              <a:t>※ 수익률은 역사적 참조값. 수수료·세금 미반영. 미래 수익 보장 아님.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운용 구조: 국민연금식 자산배분 벤치마크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05 | 원칙 참조 모델 (복제·추종 아님)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C00"/>
                </a:solidFill>
                <a:latin typeface="맑은 고딕"/>
              </a:rPr>
              <a:t>⚠  '국민연금 포트폴리오를 복제한다'가 아니라 장기·분산·위험관리 원칙을 전남광주형으로 벤치마크한다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310896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71907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벤치마크 원칙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91640"/>
            <a:ext cx="310896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71907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국민연금 현황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691640"/>
            <a:ext cx="521208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71907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전남광주 적용 방향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84831"/>
            <a:ext cx="31089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130551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장기 투자 시계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084831"/>
            <a:ext cx="31089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130551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10년+ 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084831"/>
            <a:ext cx="5212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2130551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65C0"/>
                </a:solidFill>
                <a:latin typeface="맑은 고딕"/>
              </a:rPr>
              <a:t>영구기금 구조 (원금보전)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606039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글로벌 분산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560320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7872" y="2606039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해외 50%+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560320"/>
            <a:ext cx="5212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2606039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65C0"/>
                </a:solidFill>
                <a:latin typeface="맑은 고딕"/>
              </a:rPr>
              <a:t>해외주식 35%+해외채권 10%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035808"/>
            <a:ext cx="31089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081527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자산 다각화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3035808"/>
            <a:ext cx="31089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7872" y="3081527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주식·채권·대체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3035808"/>
            <a:ext cx="5212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3081527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65C0"/>
                </a:solidFill>
                <a:latin typeface="맑은 고딕"/>
              </a:rPr>
              <a:t>동일 구조 적용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511296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557015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중기자산배분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3511296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47872" y="3557015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5년 목표비중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3511296"/>
            <a:ext cx="5212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48272" y="3557015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65C0"/>
                </a:solidFill>
                <a:latin typeface="맑은 고딕"/>
              </a:rPr>
              <a:t>투자정책서 5년 주기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986783"/>
            <a:ext cx="31089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4032503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위험관리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3986783"/>
            <a:ext cx="31089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47872" y="4032503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VaR·손실한도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986783"/>
            <a:ext cx="5212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48272" y="4032503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65C0"/>
                </a:solidFill>
                <a:latin typeface="맑은 고딕"/>
              </a:rPr>
              <a:t>위원회 한도 설정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462272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4507992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성과공시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4462272"/>
            <a:ext cx="3108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47872" y="4507992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연간 기금보고서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4462272"/>
            <a:ext cx="5212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48272" y="4507992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65C0"/>
                </a:solidFill>
                <a:latin typeface="맑은 고딕"/>
              </a:rPr>
              <a:t>분기 공시 의무화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937760"/>
            <a:ext cx="31089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4983480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직접+위탁 병행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0" y="4937760"/>
            <a:ext cx="31089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47872" y="4983480"/>
            <a:ext cx="2962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직접 40%+위탁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75120" y="4937760"/>
            <a:ext cx="5212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48272" y="4983480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565C0"/>
                </a:solidFill>
                <a:latin typeface="맑은 고딕"/>
              </a:rPr>
              <a:t>OCIO 위탁 중심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61722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맑은 고딕"/>
              </a:rPr>
              <a:t>▶ 직접위탁 불가 이유: 법적목적 제한·자금혼합 부적절·책임구조 불명확 → OCIO 공개경쟁으로 대체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참조 포트폴리오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06 | 기본안 및 단계별 전환 (보수→중립→성장)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73736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24712"/>
            <a:ext cx="16459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자산군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097280"/>
            <a:ext cx="128016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39" y="1124712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기준비중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097280"/>
            <a:ext cx="109728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124712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허용범위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097280"/>
            <a:ext cx="411480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12471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목적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81328"/>
            <a:ext cx="173736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03120" y="1481328"/>
            <a:ext cx="128016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481328"/>
            <a:ext cx="109728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1481328"/>
            <a:ext cx="411480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1481328"/>
            <a:ext cx="54864" cy="43891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15453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해외주식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15453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맑은 고딕"/>
              </a:rPr>
              <a:t>35%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15453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±5%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15453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글로벌 성장수익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938528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03120" y="1938528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0" y="1938528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1938528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1938528"/>
            <a:ext cx="54864" cy="43891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0025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국내주식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20025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A5F5"/>
                </a:solidFill>
                <a:latin typeface="맑은 고딕"/>
              </a:rP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20025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±3%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20025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국내 산업 연계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395728"/>
            <a:ext cx="173736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03120" y="2395728"/>
            <a:ext cx="128016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0" y="2395728"/>
            <a:ext cx="109728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63440" y="2395728"/>
            <a:ext cx="411480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2395728"/>
            <a:ext cx="54864" cy="43891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24597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국내채권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24597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  <a:latin typeface="맑은 고딕"/>
              </a:rPr>
              <a:t>20%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24597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±5%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79" y="24597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안정성·유동성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852928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103120" y="2852928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2852928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63440" y="2852928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2852928"/>
            <a:ext cx="54864" cy="438912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29169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해외채권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29169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6BB6A"/>
                </a:solidFill>
                <a:latin typeface="맑은 고딕"/>
              </a:rPr>
              <a:t>10%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6160" y="29169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±3%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79" y="29169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분산효과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310128"/>
            <a:ext cx="173736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103120" y="3310128"/>
            <a:ext cx="128016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74720" y="3310128"/>
            <a:ext cx="109728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63440" y="3310128"/>
            <a:ext cx="411480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3310128"/>
            <a:ext cx="54864" cy="43891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3741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대체투자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94560" y="33741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97B"/>
                </a:solidFill>
                <a:latin typeface="맑은 고딕"/>
              </a:rPr>
              <a:t>15%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33741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±5%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79" y="33741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인프라·에너지·부동산·사모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767328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03120" y="3767328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74720" y="3767328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663440" y="3767328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4320" y="3767328"/>
            <a:ext cx="54864" cy="43891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38313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유동성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94560" y="38313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300"/>
                </a:solidFill>
                <a:latin typeface="맑은 고딕"/>
              </a:rPr>
              <a:t>5%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66160" y="38313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±2%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54879" y="38313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집행 안정성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224528"/>
            <a:ext cx="173736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103120" y="4224528"/>
            <a:ext cx="128016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474720" y="4224528"/>
            <a:ext cx="109728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63440" y="4224528"/>
            <a:ext cx="4114800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74320" y="4224528"/>
            <a:ext cx="54864" cy="43891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" y="428853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지역전략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94560" y="42885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맑은 고딕"/>
              </a:rPr>
              <a:t>5%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66160" y="42885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±2%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54879" y="428853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전남광주 미래산업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61120" y="1097280"/>
            <a:ext cx="402336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79408" y="112471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단계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81744" y="1097280"/>
            <a:ext cx="402336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00032" y="112471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유형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802368" y="1097280"/>
            <a:ext cx="402336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820656" y="112471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주식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22992" y="1097280"/>
            <a:ext cx="402336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241280" y="112471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채권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643616" y="1097280"/>
            <a:ext cx="402336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661904" y="112471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대체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064240" y="1097280"/>
            <a:ext cx="402336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082528" y="112471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유동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484864" y="1097280"/>
            <a:ext cx="402336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503152" y="112471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지역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1905488" y="1097280"/>
            <a:ext cx="402336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923776" y="1124712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기대수익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61120" y="14813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79408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1단계
1~3년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81744" y="14813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400032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565C0"/>
                </a:solidFill>
                <a:latin typeface="맑은 고딕"/>
              </a:rPr>
              <a:t>보수형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802368" y="14813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820656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25%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22992" y="14813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41280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45%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643616" y="14813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661904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10%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064240" y="14813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082528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10%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484864" y="14813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503152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5%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1905488" y="14813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923776" y="15361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3~4%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61120" y="1938528"/>
            <a:ext cx="402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79408" y="19933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2단계
3~7년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381744" y="1938528"/>
            <a:ext cx="402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00032" y="19933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B5E20"/>
                </a:solidFill>
                <a:latin typeface="맑은 고딕"/>
              </a:rPr>
              <a:t>중립형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802368" y="1938528"/>
            <a:ext cx="402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820656" y="19933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40%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222992" y="1938528"/>
            <a:ext cx="402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241280" y="19933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32%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643616" y="1938528"/>
            <a:ext cx="402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661904" y="19933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15%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064240" y="1938528"/>
            <a:ext cx="402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082528" y="19933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5%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1484864" y="1938528"/>
            <a:ext cx="402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503152" y="19933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5%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905488" y="1938528"/>
            <a:ext cx="402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1923776" y="19933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4~5%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61120" y="23957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79408" y="24505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3단계
7년+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381744" y="23957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400032" y="24505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897B"/>
                </a:solidFill>
                <a:latin typeface="맑은 고딕"/>
              </a:rPr>
              <a:t>성장형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802368" y="23957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820656" y="24505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52%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222992" y="23957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241280" y="24505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23%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643616" y="23957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661904" y="24505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17%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064240" y="23957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082528" y="24505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3%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484864" y="23957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503152" y="24505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5%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1905488" y="2395728"/>
            <a:ext cx="402336" cy="438912"/>
          </a:xfrm>
          <a:prstGeom prst="rect">
            <a:avLst/>
          </a:prstGeom>
          <a:solidFill>
            <a:srgbClr val="F0F4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1923776" y="245059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맑은 고딕"/>
              </a:rPr>
              <a:t>5~6%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961120" y="38221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맑은 고딕"/>
              </a:rPr>
              <a:t>성장형 전환은 성과 검증 + 의회 동의 후 단계적으로만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74320" y="61722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맑은 고딕"/>
              </a:rPr>
              <a:t>환헤지: 해외주식 부분헤지(0~50%) | 해외채권 완전헤지 원칙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OCIO 위탁운용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07 | 외부 전문기관 공개경쟁 선정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7E"/>
                </a:solidFill>
                <a:latin typeface="맑은 고딕"/>
              </a:rPr>
              <a:t>OCIO (Outsourced Chief Investment Officer)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자산배분·위험관리·성과평가·운용사 선정을 외부 전문기관에 위탁하는 구조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256032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  <a:latin typeface="맑은 고딕"/>
              </a:rPr>
              <a:t>전문성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지방정부 직접 운용
인력 확보 불가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965960"/>
            <a:ext cx="256032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  <a:latin typeface="맑은 고딕"/>
              </a:rPr>
              <a:t>이해충돌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423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외부 운용 →
정치 개입 차단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965960"/>
            <a:ext cx="256032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  <a:latin typeface="맑은 고딕"/>
              </a:rPr>
              <a:t>글로벌 네트워크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423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해외자산 운용
파트너십 필요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965960"/>
            <a:ext cx="2560320" cy="12801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65C0"/>
                </a:solidFill>
                <a:latin typeface="맑은 고딕"/>
              </a:rPr>
              <a:t>성과 책임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4231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계약 기반
명확한 책임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3832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맑은 고딕"/>
              </a:rPr>
              <a:t>■ 선정 절차 (공개경쟁 원칙)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1920240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40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RFI 발송
(시장검증)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069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7E"/>
                </a:solidFill>
                <a:latin typeface="맑은 고딕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3794760"/>
            <a:ext cx="1920240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RFP 발송
(제안요청)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069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7E"/>
                </a:solidFill>
                <a:latin typeface="맑은 고딕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3794760"/>
            <a:ext cx="1920240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3840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외부전문가
평가위원회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069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7E"/>
                </a:solidFill>
                <a:latin typeface="맑은 고딕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3794760"/>
            <a:ext cx="1920240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3840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위원회
최종의결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4069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7E"/>
                </a:solidFill>
                <a:latin typeface="맑은 고딕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3794760"/>
            <a:ext cx="1920240" cy="822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3840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복수기관
분산위탁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7548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맑은 고딕"/>
              </a:rPr>
              <a:t>■ RFI 대상 후보군 (모두 동등한 공개경쟁 — 사전 내정 없음)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12080"/>
            <a:ext cx="356616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57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미래에셋자산운용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5212080"/>
            <a:ext cx="356616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5257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삼성자산운용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20" y="5212080"/>
            <a:ext cx="356616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5257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KB자산운용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669280"/>
            <a:ext cx="356616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715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한국투자신탁운용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5669280"/>
            <a:ext cx="356616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80" y="5715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NH투자증권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5669280"/>
            <a:ext cx="356616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5715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한화자산운용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지역전략투자 분야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08 | 기금 5% 내, Double Bottom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기금 전체의 5%(권장) 내에서 재무수익 + 지역경제 파급효과를 동시 추구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72768"/>
            <a:ext cx="1874519" cy="4114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18488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🤖 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16916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194560"/>
            <a:ext cx="17282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집적단지 고도화
공공 AI 실증·AI반도체
인재양성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2847" y="1572768"/>
            <a:ext cx="1874519" cy="4114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7" y="1618488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⚡  에너지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7" y="2103120"/>
            <a:ext cx="16916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5999" y="2194560"/>
            <a:ext cx="17282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해상풍력·그린수소
RE100·ESS
스마트그리드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1375" y="1572768"/>
            <a:ext cx="1874519" cy="4114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97095" y="1618488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🌱  농수축산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2815" y="2103120"/>
            <a:ext cx="16916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7" y="2194560"/>
            <a:ext cx="17282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스마트팜·축산
유통플랫폼
수산 고부가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9903" y="1572768"/>
            <a:ext cx="1874519" cy="41148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3" y="1618488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🧬  바이오·헬스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3" y="2103120"/>
            <a:ext cx="16916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3055" y="2194560"/>
            <a:ext cx="17282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고령친화산업
식품바이오
헬스케어데이터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8431" y="1572768"/>
            <a:ext cx="1874519" cy="4114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1618488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🚗  모빌리티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1" y="2103120"/>
            <a:ext cx="16916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1583" y="2194560"/>
            <a:ext cx="17282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자율주행·드론물류
정밀지도
공간정보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59" y="1572768"/>
            <a:ext cx="1874519" cy="41148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1618488"/>
            <a:ext cx="1783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🎓  청년·대학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399" y="2103120"/>
            <a:ext cx="16916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1" y="2194560"/>
            <a:ext cx="172821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맑은 고딕"/>
              </a:rPr>
              <a:t>연구펀드
인재정착지원
청년창업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806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</a:rPr>
              <a:t>투자 방식 우선순위: 펀드출자(LP) &gt; 공동투자 &gt; 직접투자(원칙 제한)  |  이해충돌 방지 심사 필수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1447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맑은 고딕"/>
              </a:rPr>
              <a:t>성과지표: IRR·고용창출·청년유입·민간투자 매칭률·특허·탄소감축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법률·제도 선결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09 | 교부조건 명시가 가장 중요한 선결 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5943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2F2F"/>
                </a:solidFill>
                <a:latin typeface="맑은 고딕"/>
              </a:rPr>
              <a:t>⚠  최대 리스크: 교부조건 확정 후에는 기금화가 보조금법상 '용도 외 사용'으로 불가능해질 수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2011680" cy="7498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1167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특별법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874519"/>
            <a:ext cx="9601200" cy="749808"/>
          </a:xfrm>
          <a:prstGeom prst="rect">
            <a:avLst/>
          </a:prstGeom>
          <a:solidFill>
            <a:srgbClr val="F5F5F5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947672"/>
            <a:ext cx="9235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기금 설치 + 중앙정부 지원금 출연 근거 명시
일반법 특례 부여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97479"/>
            <a:ext cx="2011680" cy="7498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83463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시행령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697479"/>
            <a:ext cx="9601200" cy="749808"/>
          </a:xfrm>
          <a:prstGeom prst="rect">
            <a:avLst/>
          </a:prstGeom>
          <a:solidFill>
            <a:srgbClr val="F5F5F5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2770632"/>
            <a:ext cx="9235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운용 원칙·위탁 기준·지출한도·선정 절차
성과평가·보고 기준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20439"/>
            <a:ext cx="2011680" cy="7498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65759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조례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520439"/>
            <a:ext cx="9601200" cy="749808"/>
          </a:xfrm>
          <a:prstGeom prst="rect">
            <a:avLst/>
          </a:prstGeom>
          <a:solidFill>
            <a:srgbClr val="F5F5F5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3593591"/>
            <a:ext cx="9235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목적·재원·용도·원금보전·위원회
정보공개·외부감사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43400"/>
            <a:ext cx="2011680" cy="7498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4805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교부조건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343400"/>
            <a:ext cx="9601200" cy="749808"/>
          </a:xfrm>
          <a:prstGeom prst="rect">
            <a:avLst/>
          </a:prstGeom>
          <a:solidFill>
            <a:srgbClr val="F5F5F5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60" y="4416552"/>
            <a:ext cx="9235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기금 출연 가능성 사전 명시 ← 최우선
용도 외 사용 리스크 차단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66360"/>
            <a:ext cx="2011680" cy="749808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3035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투자정책서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5166360"/>
            <a:ext cx="9601200" cy="749808"/>
          </a:xfrm>
          <a:prstGeom prst="rect">
            <a:avLst/>
          </a:prstGeom>
          <a:solidFill>
            <a:srgbClr val="F5F5F5"/>
          </a:solidFill>
          <a:ln w="1905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3160" y="5239512"/>
            <a:ext cx="9235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자산배분·위험한도·지출률·벤치마크
위원회 의결 후 즉시 공개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맑은 고딕"/>
              </a:rPr>
              <a:t>법령 검토 우선순위: 보조금법 → 지방기금법 → 지방재정법 → 특별법 → 자본시장법·외국환거래법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3550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맑은 고딕"/>
              </a:rPr>
              <a:t>전문 법률자문 의뢰 필수 — 모든 조문은 '가능하도록 법적 근거를 마련해야 한다'는 전제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기금 거버넌스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10 | 정치적 개입 차단 10가지 장치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1143000"/>
            <a:ext cx="2286000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11887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전남광주특별시장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965960"/>
            <a:ext cx="3383280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01167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미래전환기금운용위원회
(공무원 의결권 배제)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2651760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0632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투자정책위원회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017520"/>
            <a:ext cx="2651760" cy="5486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30632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위험관리위원회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017520"/>
            <a:ext cx="2651760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30632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지역전략사업위원회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3017520"/>
            <a:ext cx="2651760" cy="5486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30632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시민감시위원회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4023360"/>
            <a:ext cx="5029200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39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OCIO 전문운용기관 (공개경쟁 선정)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029200"/>
            <a:ext cx="32004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특별시의회 보고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5029200"/>
            <a:ext cx="3200400" cy="457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59" y="5074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외부감사인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5029200"/>
            <a:ext cx="4114800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50749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중앙정부·국회 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맑은 고딕"/>
              </a:rPr>
              <a:t>■ 10대 정치개입 차단장치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989320"/>
            <a:ext cx="2194560" cy="2926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007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① 투자정책서 사전공시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5989320"/>
            <a:ext cx="2194560" cy="2926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79" y="6007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② 자산군 허용범위 고정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5989320"/>
            <a:ext cx="2194560" cy="2926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6007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③ 특정기업 직접투자 금지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5989320"/>
            <a:ext cx="2194560" cy="2926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6007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④ 지역투자 별도 심사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5989320"/>
            <a:ext cx="2194560" cy="29260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9800" y="6007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⑤ 위원·회의록 공개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989320"/>
            <a:ext cx="2194560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6007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⑥ 외부감사 의무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5989320"/>
            <a:ext cx="2194560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79" y="6007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⑦ 의회보고 의무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5989320"/>
            <a:ext cx="2194560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4920" y="6007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⑧ 이해충돌 신고 의무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5989320"/>
            <a:ext cx="2194560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6007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⑨ 운용기관 공개경쟁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5989320"/>
            <a:ext cx="2194560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800" y="6007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맑은 고딕"/>
              </a:rPr>
              <a:t>⑩ 성과 전면 공개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해외 성공사례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11 | 노르웨이·알래스카·아일랜드·싱가포르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338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🇳🇴 노르웨이 GPFG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81912"/>
            <a:ext cx="274320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45920"/>
            <a:ext cx="25237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규모: 약 1.9조 달러
재원: 석유세입
지출준칙: 실질 3% 룰
특징: 글로벌 분산·완전 공시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370832"/>
            <a:ext cx="2743200" cy="7315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41655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→ 3% 지출률·
   글로벌분산 직접 참조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79" y="1097280"/>
            <a:ext cx="27432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399" y="11338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🇺🇸 알래스카 영구기금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79" y="1581912"/>
            <a:ext cx="274320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1645920"/>
            <a:ext cx="25237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규모: 약 760억 달러
재원: 석유 로열티
원금보호: 헌법 명시
특징: 주민배당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79" y="4370832"/>
            <a:ext cx="2743200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441655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→ 원금보호 강제력
   특별법·조례 적용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097280"/>
            <a:ext cx="2743200" cy="457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59" y="11338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🇮🇪 아일랜드 ISIF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581912"/>
            <a:ext cx="274320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1645920"/>
            <a:ext cx="25237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규모: 약 130억 유로
목적: 성장+고용
Double Bottom Line
직접·공동·펀드투자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4370832"/>
            <a:ext cx="2743200" cy="7315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9" y="441655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→ 이중목표 운용
   지역전략투자 모델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1097280"/>
            <a:ext cx="2743200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11338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🇸🇬 싱가포르 테마섹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1581912"/>
            <a:ext cx="274320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25128" y="1645920"/>
            <a:ext cx="252374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규모: 약 3,820억 SGD
성격: 국가전략투자
독립이사회 거버넌스
장기수익+공공목적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15400" y="4370832"/>
            <a:ext cx="2743200" cy="7315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441655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→ 독립 거버넌스
   전략산업 투자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5230368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맑은 고딕"/>
              </a:rPr>
              <a:t>공통점: 일시적 재원 → 영구 성장자본 전환 | 원금보전 | 글로벌 분산 | 투명 공시 | 독립 거버넌스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6235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전남광주도 이 경로를 따를 수 있다 — 대한민국 균형발전의 새 표준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이해당사자별 설득 논리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12 | 각 주체별 맞춤 메시지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338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민형배 시장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2286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7335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임기 성과(8조) + 임기 후 지속재원(12조)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12848"/>
            <a:ext cx="2286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240279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20조 기획을 제도화하는 구체적 수단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79776"/>
            <a:ext cx="2286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80720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정치적 나눠먹기 방지 → 리더십 강화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46704"/>
            <a:ext cx="2286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374136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100년 레거시 — 노르웨이식 첫 지방정부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79" y="1097280"/>
            <a:ext cx="27432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399" y="11338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중앙정부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645920"/>
            <a:ext cx="22860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7" y="167335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예산낭비 방지 → 책임재정 혁신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212848"/>
            <a:ext cx="22860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7" y="2240279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지방재정 자립 → 의존도 영구 감소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779776"/>
            <a:ext cx="22860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7" y="280720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초광역통합 표준모델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3346704"/>
            <a:ext cx="22860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38727" y="3374136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교부조건·공시·감사로 관리 용이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097280"/>
            <a:ext cx="2743200" cy="457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59" y="11338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국 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79" y="1645920"/>
            <a:ext cx="228600" cy="365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167335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원금보전·지출상한 → 과다 지출 차단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2212848"/>
            <a:ext cx="228600" cy="365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240279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외부감사·분기공시 → 국회 감시 용이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79" y="2779776"/>
            <a:ext cx="228600" cy="365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280720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특혜방지 공개경쟁 구조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79" y="3346704"/>
            <a:ext cx="228600" cy="365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3374136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보조금 용도외 사용 원천 차단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1097280"/>
            <a:ext cx="2743200" cy="457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113385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지역주민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1645920"/>
            <a:ext cx="228600" cy="3657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8" y="1673352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한 번 쓰는 20조 vs 매년 돌아오는 20조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2212848"/>
            <a:ext cx="228600" cy="3657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9448" y="2240279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청년정착·농업·의료·교육 지속 투자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06840" y="2779776"/>
            <a:ext cx="228600" cy="3657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9448" y="280720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광주·전남 균형 배분 구조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40" y="3346704"/>
            <a:ext cx="228600" cy="3657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99448" y="3374136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우리 아이들도 쓰는 기금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예상 반론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13 | 7대 반론과 핵심 답변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572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Q1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097280"/>
            <a:ext cx="466344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17043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맑은 고딕"/>
              </a:rPr>
              <a:t>당장 쓸 곳 많은데 왜 묶나?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097280"/>
            <a:ext cx="36576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097280"/>
            <a:ext cx="6400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17043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▷ 전액 아님. 12조만. 8조는 즉시 AI·에너지·농수축산 직접투자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92224"/>
            <a:ext cx="4572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88366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Q2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792224"/>
            <a:ext cx="466344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86537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맑은 고딕"/>
              </a:rPr>
              <a:t>손실 나면 누가 책임?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1792224"/>
            <a:ext cx="36576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1792224"/>
            <a:ext cx="6400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1865376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▷ 전문위탁·분산·손실한도·외부감사 제도화. 전액 소비는 소멸 확정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487168"/>
            <a:ext cx="4572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57860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Q3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487168"/>
            <a:ext cx="466344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5603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맑은 고딕"/>
              </a:rPr>
              <a:t>국민연금 못 맡기면 불가능?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2487168"/>
            <a:ext cx="36576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2487168"/>
            <a:ext cx="6400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25603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▷ 원칙 벤치마크 + 복수 OCIO 공개경쟁으로 완전 대체 가능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82112"/>
            <a:ext cx="4572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2735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Q4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182112"/>
            <a:ext cx="466344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25526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맑은 고딕"/>
              </a:rPr>
              <a:t>미래에셋 특혜 아닌가?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182112"/>
            <a:ext cx="36576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0" y="3182112"/>
            <a:ext cx="6400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3255264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▷ 후보군 중 하나. 삼성·KB·NH·한국투자·한화 복수 공개경쟁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877056"/>
            <a:ext cx="4572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39684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Q5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3877056"/>
            <a:ext cx="466344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39502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맑은 고딕"/>
              </a:rPr>
              <a:t>국고지원금 투자 불법?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877056"/>
            <a:ext cx="36576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0" y="3877056"/>
            <a:ext cx="6400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0" y="395020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▷ 교부조건·특별법·조례에 근거 사전 명시 시 해소 가능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572000"/>
            <a:ext cx="4572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46634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Q6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572000"/>
            <a:ext cx="466344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64515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맑은 고딕"/>
              </a:rPr>
              <a:t>직접 쓰는 게 낫지 않나?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4572000"/>
            <a:ext cx="36576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0" y="4572000"/>
            <a:ext cx="6400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0" y="4645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▷ 8조 직접투자 병행. 기금은 지속성 확보 장치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266944"/>
            <a:ext cx="45720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535838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Q7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" y="5266944"/>
            <a:ext cx="4663440" cy="502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534009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맑은 고딕"/>
              </a:rPr>
              <a:t>시장 나쁘면 수익 없을 수도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5266944"/>
            <a:ext cx="36576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0" y="5266944"/>
            <a:ext cx="64008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77840" y="5340096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▷ 10년 장기평균 기준. 3~5년 평균 평가액으로 지출률 결정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수익 시뮬레이션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14 | 12조 기준, 복리 재투자 30% 시나리오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65176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연 4% 기준 연간 수익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8988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4,800억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47088"/>
            <a:ext cx="2468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EFB"/>
                </a:solidFill>
                <a:latin typeface="맑은 고딕"/>
              </a:rPr>
              <a:t>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97280"/>
            <a:ext cx="2651760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14300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10년 누적 수익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8988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4.8조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47088"/>
            <a:ext cx="2468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EFB"/>
                </a:solidFill>
                <a:latin typeface="맑은 고딕"/>
              </a:rPr>
              <a:t>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97280"/>
            <a:ext cx="2651760" cy="10058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14300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20년 누적 수익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38988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9.6조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847088"/>
            <a:ext cx="24688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EFB"/>
                </a:solidFill>
                <a:latin typeface="맑은 고딕"/>
              </a:rPr>
              <a:t>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097280"/>
            <a:ext cx="3017520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143000"/>
            <a:ext cx="2834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맑은 고딕"/>
              </a:rPr>
              <a:t>30년 후 기금(재투자)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389888"/>
            <a:ext cx="2834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맑은 고딕"/>
              </a:rPr>
              <a:t>20.2조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847088"/>
            <a:ext cx="2834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EFB"/>
                </a:solidFill>
                <a:latin typeface="맑은 고딕"/>
              </a:rPr>
              <a:t>원(추산)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240280"/>
            <a:ext cx="128016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267712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시점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2240280"/>
            <a:ext cx="164592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22677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기금규모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2240280"/>
            <a:ext cx="182880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22677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연간수익(4%)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2240280"/>
            <a:ext cx="201168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22677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지출가용(60%)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2240280"/>
            <a:ext cx="201168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22677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재투자(30%)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2240280"/>
            <a:ext cx="2286000" cy="34747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22677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준비금(10%)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633472"/>
            <a:ext cx="1280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2679192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1년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0" y="2633472"/>
            <a:ext cx="164592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19072" y="2679192"/>
            <a:ext cx="1499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12.0조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2633472"/>
            <a:ext cx="18288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56432" y="2679192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4,800억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2633472"/>
            <a:ext cx="20116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76672" y="267919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3,360억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2633472"/>
            <a:ext cx="20116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9792" y="267919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1,440억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2633472"/>
            <a:ext cx="22860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82912" y="2679192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480억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090672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3136392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5년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0" y="3090672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19072" y="3136392"/>
            <a:ext cx="1499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12.9조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3090672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56432" y="3136392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5,160억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0" y="3090672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76672" y="313639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3,612억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6640" y="3090672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79792" y="313639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1,548억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9760" y="3090672"/>
            <a:ext cx="2286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82912" y="3136392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516억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547872"/>
            <a:ext cx="1280160" cy="438912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7472" y="3593592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10년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5920" y="3547872"/>
            <a:ext cx="1645920" cy="438912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19072" y="3593592"/>
            <a:ext cx="1499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5E20"/>
                </a:solidFill>
                <a:latin typeface="맑은 고딕"/>
              </a:rPr>
              <a:t>14.1조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83280" y="3547872"/>
            <a:ext cx="1828800" cy="438912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56432" y="3593592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5E20"/>
                </a:solidFill>
                <a:latin typeface="맑은 고딕"/>
              </a:rPr>
              <a:t>5,640억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03520" y="3547872"/>
            <a:ext cx="2011680" cy="438912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76672" y="359359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3,948억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06640" y="3547872"/>
            <a:ext cx="2011680" cy="438912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79792" y="359359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1,692억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09760" y="3547872"/>
            <a:ext cx="2286000" cy="438912"/>
          </a:xfrm>
          <a:prstGeom prst="rect">
            <a:avLst/>
          </a:prstGeom>
          <a:solidFill>
            <a:srgbClr val="FFF9C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82912" y="3593592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564억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4005072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7472" y="4050791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20년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45920" y="4005072"/>
            <a:ext cx="1645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19072" y="4050791"/>
            <a:ext cx="1499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16.9조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83280" y="4005072"/>
            <a:ext cx="1828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56432" y="4050791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6,760억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03520" y="4005072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76672" y="4050791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4,732억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06640" y="4005072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79792" y="4050791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2,028억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509760" y="4005072"/>
            <a:ext cx="22860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582912" y="4050791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676억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4462272"/>
            <a:ext cx="1280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7472" y="4507992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30년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645920" y="4462272"/>
            <a:ext cx="164592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719072" y="4507992"/>
            <a:ext cx="14996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20.2조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0" y="4462272"/>
            <a:ext cx="18288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56432" y="4507992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8,080억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303520" y="4462272"/>
            <a:ext cx="20116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76672" y="450799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5,656억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406640" y="4462272"/>
            <a:ext cx="20116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479792" y="450799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2,424억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9760" y="4462272"/>
            <a:ext cx="22860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582912" y="4507992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808억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320" y="501091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</a:rPr>
              <a:t>수익 배분: 지출 60% / 재투자 30% / 위험준비금 10%  |  복리 효과로 기금 원금 자체도 성장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4320" y="53766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맑은 고딕"/>
              </a:rPr>
              <a:t>⚠ 단순 산술 참조값. 수수료·세금·환율·시장변동 미반영. 미래 수익 보장 아님.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추진 로드맵 (6개월)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15 | 5단계 추진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194560" cy="685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① 개념 정립
즉시~1개월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2286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1109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기본구상 작성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41448"/>
            <a:ext cx="2286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780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8·12·15조 시나리오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08376"/>
            <a:ext cx="2286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44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당선자 보고자료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75303"/>
            <a:ext cx="2286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7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슬로건·메시지 확정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1325880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37E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78608" y="1097280"/>
            <a:ext cx="2194560" cy="685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4327" y="11430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② 법률·제도
1~2개월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0048" y="1874519"/>
            <a:ext cx="22860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4368" y="191109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특별법 검토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441448"/>
            <a:ext cx="22860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44368" y="24780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조례안 초안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70048" y="3008376"/>
            <a:ext cx="22860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44368" y="3044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교부조건 문구 협의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70048" y="3575303"/>
            <a:ext cx="22860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44368" y="361187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외부 법률자문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5" y="1325880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37E"/>
                </a:solidFill>
                <a:latin typeface="맑은 고딕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82896" y="1097280"/>
            <a:ext cx="2194560" cy="685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8616" y="11430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③ RFI 실시
2~3개월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74336" y="1874519"/>
            <a:ext cx="228600" cy="365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48656" y="191109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후보군 RFI 발송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74336" y="2441448"/>
            <a:ext cx="228600" cy="365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8656" y="24780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응답 분석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3008376"/>
            <a:ext cx="228600" cy="365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48656" y="3044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OCIO 구조 설계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6" y="3575303"/>
            <a:ext cx="228600" cy="3657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48656" y="361187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수수료·리스크 검토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95744" y="1325880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37E"/>
                </a:solidFill>
                <a:latin typeface="맑은 고딕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87184" y="1097280"/>
            <a:ext cx="2194560" cy="6858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2904" y="11430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④ 보고서 확정
3~4개월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78624" y="1874519"/>
            <a:ext cx="228600" cy="3657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52944" y="191109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본보고서 확정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78624" y="2441448"/>
            <a:ext cx="228600" cy="3657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52944" y="24780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법률 조문안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78624" y="3008376"/>
            <a:ext cx="228600" cy="3657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52944" y="3044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투자정책서 초안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78624" y="3575303"/>
            <a:ext cx="228600" cy="3657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52944" y="361187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RFI 결과분석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00032" y="1325880"/>
            <a:ext cx="9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37E"/>
                </a:solidFill>
                <a:latin typeface="맑은 고딕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91472" y="1097280"/>
            <a:ext cx="2194560" cy="685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37192" y="11430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⑤ 정치·입법
4~6개월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82912" y="1874519"/>
            <a:ext cx="228600" cy="3657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57232" y="1911095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캠프·인수팀 보고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82912" y="2441448"/>
            <a:ext cx="228600" cy="3657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57232" y="24780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중앙정부 TF 협의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82912" y="3008376"/>
            <a:ext cx="228600" cy="3657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57232" y="30449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국회 설득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82912" y="3575303"/>
            <a:ext cx="228600" cy="3657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57232" y="361187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시민공론화·조례 제정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42062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2F2F"/>
                </a:solidFill>
                <a:latin typeface="맑은 고딕"/>
              </a:rPr>
              <a:t>★ 골든타임: 특별법·교부조건 협상 단계가 기금화 성패를 가른다 — 출범(2026.07) 전후가 최적 시점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206240"/>
            <a:ext cx="11612880" cy="384048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2519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32F2F"/>
                </a:solidFill>
                <a:latin typeface="맑은 고딕"/>
              </a:rPr>
              <a:t>★ 골든타임: 특별법·교부조건 협상 단계가 기금화 성패를 가른다 — 출범(2026.07) 전후가 최적 시점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</a:rPr>
              <a:t>성과지표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맑은 고딕"/>
              </a:rPr>
              <a:t>16 | 금융·지역·재정 3축 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33856"/>
            <a:ext cx="3657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금융성과 지표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749039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" y="1609344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연평균 수익률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1892807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3·5·10년 누적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31136"/>
            <a:ext cx="374903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2267712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최대손실률(MDD)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2551176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사전 한도 이내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89504"/>
            <a:ext cx="3749039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926080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샤프비율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" y="3209544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0.5 이상 목표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47872"/>
            <a:ext cx="374903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3584448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VaR(95%)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" y="3867911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허용한도 준수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06240"/>
            <a:ext cx="3749039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" y="4242816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벤치마크 대비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" y="4526279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초과수익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64607"/>
            <a:ext cx="374903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864607"/>
            <a:ext cx="54864" cy="6217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" y="4901183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유동성 비율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" y="5184647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최소기준 유지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1097280"/>
            <a:ext cx="3749039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1133856"/>
            <a:ext cx="3657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지역성과 지표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1572768"/>
            <a:ext cx="3749039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60520" y="1572768"/>
            <a:ext cx="54864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88536" y="1609344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청년 순유입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8536" y="1892807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20~39세 이동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2231136"/>
            <a:ext cx="374903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231136"/>
            <a:ext cx="54864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88536" y="2267712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GRDP 증가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88536" y="2551176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산업별 부가가치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2889504"/>
            <a:ext cx="3749039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60520" y="2889504"/>
            <a:ext cx="54864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8536" y="2926080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창업기업 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88536" y="3209544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기술·농식품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3547872"/>
            <a:ext cx="374903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60520" y="3547872"/>
            <a:ext cx="54864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88536" y="3584448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고용창출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88536" y="3867911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직접·간접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4206240"/>
            <a:ext cx="3749039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60520" y="4206240"/>
            <a:ext cx="54864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88536" y="4242816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재생에너지 자립도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88536" y="4526279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RE% 비율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60520" y="4864607"/>
            <a:ext cx="374903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60520" y="4864607"/>
            <a:ext cx="54864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88536" y="4901183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민간 매칭 배율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88536" y="5184647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기금 대비 민간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6720" y="1097280"/>
            <a:ext cx="3749039" cy="4114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92440" y="1133856"/>
            <a:ext cx="365759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재정성과 지표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1572768"/>
            <a:ext cx="3749039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46720" y="1572768"/>
            <a:ext cx="54864" cy="62179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74736" y="1609344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자체재원 증가율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74736" y="1892807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지방세·세외수입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46720" y="2231136"/>
            <a:ext cx="374903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46720" y="2231136"/>
            <a:ext cx="54864" cy="62179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74736" y="2267712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중앙 의존도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74736" y="2551176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국고보조 비중 변화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46720" y="2889504"/>
            <a:ext cx="3749039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46720" y="2889504"/>
            <a:ext cx="54864" cy="62179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74736" y="2926080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재정승수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74736" y="3209544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지출 대비 경제효과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3547872"/>
            <a:ext cx="374903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46720" y="3547872"/>
            <a:ext cx="54864" cy="62179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74736" y="3584448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수익재투자율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74736" y="3867911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운용수익 재투자 비중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46720" y="4206240"/>
            <a:ext cx="3749039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0" y="4206240"/>
            <a:ext cx="54864" cy="62179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74736" y="4242816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원금 보전율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74736" y="4526279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100% 유지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46720" y="4864607"/>
            <a:ext cx="374903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46720" y="4864607"/>
            <a:ext cx="54864" cy="621792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74736" y="4901183"/>
            <a:ext cx="3529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맑은 고딕"/>
              </a:rPr>
              <a:t>지출률 준수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74736" y="5184647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맑은 고딕"/>
              </a:rPr>
              <a:t>투자정책서 기준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61264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맑은 고딕"/>
              </a:rPr>
              <a:t>평가 주기: 월(평가액·위험) / 분기(수익률·보고서) / 연(종합·의회) / 3~5년(장기·정책재검토)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0A4AE"/>
                </a:solidFill>
                <a:latin typeface="맑은 고딕"/>
              </a:rPr>
              <a:t>핵심 슬로건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005840"/>
            <a:ext cx="10360152" cy="914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078992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맑은 고딕"/>
              </a:rPr>
              <a:t>"쓰고 끝나는 20조가 아니라, 매년 돌아오는 20조"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03120"/>
            <a:ext cx="10360152" cy="685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76272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"20조 원을 100년 성장자본으로"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A4AE"/>
                </a:solidFill>
                <a:latin typeface="맑은 고딕"/>
              </a:rPr>
              <a:t>보조 슬로건 후보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10360152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3814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  <a:latin typeface="맑은 고딕"/>
              </a:rPr>
              <a:t>• 우리 아이들도 쓰는 기금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840480"/>
            <a:ext cx="10360152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9534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  <a:latin typeface="맑은 고딕"/>
              </a:rPr>
              <a:t>• 전남광주 주도성장의 재정 엔진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297680"/>
            <a:ext cx="10360152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5254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  <a:latin typeface="맑은 고딕"/>
              </a:rPr>
              <a:t>• 토목예산을 넘어 미래자본으로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754880"/>
            <a:ext cx="10360152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0974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  <a:latin typeface="맑은 고딕"/>
              </a:rPr>
              <a:t>• 청년이 돌아오는 미래전환기금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212080"/>
            <a:ext cx="10360152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26694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  <a:latin typeface="맑은 고딕"/>
              </a:rPr>
              <a:t>• 중앙정부 지원금을 지역의 독립재정으로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309360"/>
            <a:ext cx="10360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8909C"/>
                </a:solidFill>
                <a:latin typeface="맑은 고딕"/>
              </a:rPr>
              <a:t>2026. 06  |  전남광주 미래전환기금 준비위원회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237E"/>
                </a:solidFill>
                <a:latin typeface="맑은 고딕"/>
              </a:rPr>
              <a:t>결론 및 지금 필요한 결정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11430000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326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B300"/>
                </a:solidFill>
                <a:latin typeface="맑은 고딕"/>
              </a:rPr>
              <a:t>전남광주는 20조 원을 소비하는 도시가 아니라, 자본화하여 대한민국 균형발전의 새 표준을 만드는 도시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맑은 고딕"/>
              </a:rPr>
              <a:t>■ 8대 핵심 제언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29968"/>
            <a:ext cx="3200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57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① 원금은 원칙적으로 보전한다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3200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963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② 운용수익 중심으로 지출한다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07792"/>
            <a:ext cx="3200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352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③ 국민연금식 자산배분 원칙을 벤치마크한다 (복제 아님)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46704"/>
            <a:ext cx="3200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3741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④ 전문기관은 RFI·공개경쟁으로 검토한다 (특혜 차단)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85616"/>
            <a:ext cx="32004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8130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⑤ 특별법·조례·교부조건에 법적 근거를 명시한다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24528"/>
            <a:ext cx="32004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2519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⑥ 지역전략투자는 기금의 일부로 제한한다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63440"/>
            <a:ext cx="32004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⑦ AI·에너지·농수축산·바이오·청년·대학에 집중한다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02352"/>
            <a:ext cx="32004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1297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⑧ 모든 성과·지출내역을 공개한다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627632"/>
            <a:ext cx="5577840" cy="45262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69164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</a:rPr>
              <a:t>⚡ 지금 당장 필요한 결정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240280"/>
            <a:ext cx="5303520" cy="65836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30428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1. 특별법·교부조건 협상 시
   '기금 출연 가능성' 명시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990088"/>
            <a:ext cx="5303520" cy="65836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05409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2. 법률자문 즉시 의뢰
   (보조금법·지방기금법 검토)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739896"/>
            <a:ext cx="5303520" cy="65836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80390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3. 기금 규모 정치적 결정
   (권장: 12조 기금 + 8조 직접)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489704"/>
            <a:ext cx="5303520" cy="65836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55371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4. OCIO 후보군 RFI 준비
   (공개경쟁 원칙 천명)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5239512"/>
            <a:ext cx="5303520" cy="65836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53035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5. 기금운용위원회 구성 착수
   (공무원 의결권 배제 설계)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943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B300"/>
                </a:solidFill>
                <a:latin typeface="맑은 고딕"/>
              </a:rPr>
              <a:t>"골든타임은 지금입니다"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56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  <a:latin typeface="맑은 고딕"/>
              </a:rPr>
              <a:t>전남광주 미래전환기금 | 민형배 시장 보고자료 | 2026.06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맑은 고딕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